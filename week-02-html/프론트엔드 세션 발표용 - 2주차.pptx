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265" r:id="rId5"/>
    <p:sldId id="266" r:id="rId6"/>
    <p:sldId id="268" r:id="rId7"/>
    <p:sldId id="267" r:id="rId8"/>
    <p:sldId id="269" r:id="rId9"/>
    <p:sldId id="27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440" autoAdjust="0"/>
  </p:normalViewPr>
  <p:slideViewPr>
    <p:cSldViewPr snapToGrid="0">
      <p:cViewPr varScale="1">
        <p:scale>
          <a:sx n="63" d="100"/>
          <a:sy n="63" d="100"/>
        </p:scale>
        <p:origin x="14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B7391-135F-4CD2-8DF8-1CE25E965FED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8C448-4B01-45DC-A693-05AA9EC75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4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웹은 처음부터 지금처럼 복잡한 서비스가 아니었습니다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처음에는 단순히 논문이나 글 같은 문서를 공유하기 위한 기술이었습니다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가장 먼저 등장한 것이</a:t>
            </a:r>
            <a:r>
              <a:rPr lang="en-US" altLang="ko-KR" dirty="0"/>
              <a:t>, </a:t>
            </a:r>
            <a:r>
              <a:rPr lang="ko-KR" altLang="en-US" dirty="0"/>
              <a:t>문서의 구조를 표현하는 </a:t>
            </a:r>
            <a:r>
              <a:rPr lang="en-US" altLang="ko-KR" dirty="0"/>
              <a:t>HTML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시간이 지나면서</a:t>
            </a:r>
            <a:r>
              <a:rPr lang="en-US" altLang="ko-KR" dirty="0"/>
              <a:t>, </a:t>
            </a:r>
            <a:r>
              <a:rPr lang="ko-KR" altLang="en-US" dirty="0"/>
              <a:t>단순한 텍스트만으로는 부족해졌습니다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사람들은 더 보기 좋은 화면을 원했고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결과 </a:t>
            </a:r>
            <a:r>
              <a:rPr lang="en-US" altLang="ko-KR" dirty="0"/>
              <a:t>CSS</a:t>
            </a:r>
            <a:r>
              <a:rPr lang="ko-KR" altLang="en-US" dirty="0"/>
              <a:t>가 등장해 디자인을 담당하게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여기서 끝나지 않고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사용자와 상호작용하는 기능이 필요해지면서</a:t>
            </a:r>
            <a:br>
              <a:rPr lang="ko-KR" altLang="en-US" dirty="0"/>
            </a:br>
            <a:r>
              <a:rPr lang="en-US" altLang="ko-KR" dirty="0"/>
              <a:t>JavaScript</a:t>
            </a:r>
            <a:r>
              <a:rPr lang="ko-KR" altLang="en-US" dirty="0"/>
              <a:t>가 추가되었습니다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웹은 ‘</a:t>
            </a:r>
            <a:r>
              <a:rPr lang="ko-KR" altLang="en-US" dirty="0" err="1"/>
              <a:t>문서’에서</a:t>
            </a:r>
            <a:r>
              <a:rPr lang="ko-KR" altLang="en-US" dirty="0"/>
              <a:t> 시작해서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점점 ‘</a:t>
            </a:r>
            <a:r>
              <a:rPr lang="ko-KR" altLang="en-US" dirty="0" err="1"/>
              <a:t>애플리케이션’으로</a:t>
            </a:r>
            <a:r>
              <a:rPr lang="ko-KR" altLang="en-US" dirty="0"/>
              <a:t> 발전하게 됩니다</a:t>
            </a:r>
            <a:r>
              <a:rPr lang="en-US" altLang="ko-KR" dirty="0"/>
              <a:t>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541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브라우저는 코드를 그대로 보여주는 것이 아니라</a:t>
            </a:r>
            <a:r>
              <a:rPr lang="en-US" altLang="ko-KR" dirty="0"/>
              <a:t>, </a:t>
            </a:r>
            <a:r>
              <a:rPr lang="ko-KR" altLang="en-US" dirty="0"/>
              <a:t>여러 단계를 거쳐 화면을 만들어냅니다</a:t>
            </a:r>
            <a:r>
              <a:rPr lang="en-US" altLang="ko-KR" dirty="0"/>
              <a:t>. – </a:t>
            </a:r>
            <a:r>
              <a:rPr lang="ko-KR" altLang="en-US" dirty="0"/>
              <a:t>보시는 화면이 곧 브라우저의 렌더링 과정이 되겠죠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HTML</a:t>
            </a:r>
            <a:r>
              <a:rPr lang="ko-KR" altLang="en-US" dirty="0"/>
              <a:t>을 읽어서 </a:t>
            </a:r>
            <a:r>
              <a:rPr lang="en-US" altLang="ko-KR" dirty="0"/>
              <a:t>DOM</a:t>
            </a:r>
            <a:r>
              <a:rPr lang="ko-KR" altLang="en-US" dirty="0"/>
              <a:t>이라는 구조를 만든다</a:t>
            </a:r>
            <a:endParaRPr lang="en-US" altLang="ko-KR" dirty="0"/>
          </a:p>
          <a:p>
            <a:r>
              <a:rPr lang="en-US" altLang="ko-KR" dirty="0"/>
              <a:t>CSS</a:t>
            </a:r>
            <a:r>
              <a:rPr lang="ko-KR" altLang="en-US" dirty="0"/>
              <a:t>도 따로 읽어서 </a:t>
            </a:r>
            <a:r>
              <a:rPr lang="en-US" altLang="ko-KR" dirty="0"/>
              <a:t>CSSOM</a:t>
            </a:r>
            <a:r>
              <a:rPr lang="ko-KR" altLang="en-US" dirty="0"/>
              <a:t>이라는 스타일 정보를 만든다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두 가지를 합쳐서</a:t>
            </a:r>
            <a:r>
              <a:rPr lang="en-US" altLang="ko-KR" dirty="0"/>
              <a:t>, </a:t>
            </a:r>
            <a:r>
              <a:rPr lang="ko-KR" altLang="en-US" dirty="0"/>
              <a:t>실제 화면에 표시할 요소들만 모은 </a:t>
            </a:r>
            <a:r>
              <a:rPr lang="en-US" altLang="ko-KR" dirty="0"/>
              <a:t>Render Tree</a:t>
            </a:r>
            <a:r>
              <a:rPr lang="ko-KR" altLang="en-US" dirty="0"/>
              <a:t>를 만든다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다음</a:t>
            </a:r>
            <a:r>
              <a:rPr lang="en-US" altLang="ko-KR" dirty="0"/>
              <a:t>, </a:t>
            </a:r>
            <a:r>
              <a:rPr lang="ko-KR" altLang="en-US" dirty="0"/>
              <a:t>각 요소의 위치와 크기를 계산하고</a:t>
            </a:r>
            <a:endParaRPr lang="en-US" altLang="ko-KR" dirty="0"/>
          </a:p>
          <a:p>
            <a:r>
              <a:rPr lang="ko-KR" altLang="en-US" dirty="0"/>
              <a:t>실제로 픽셀을 그리기 시작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마지막으로 여러 레이어를 합쳐서 최종 화면을 완성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916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30B01-3006-D627-1CBE-8677774C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FAF509-5569-54ED-3DE6-0AF3219C6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EC5B9B-B680-D641-03D0-83BEF6887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r>
              <a:rPr lang="ko-KR" altLang="en-US" dirty="0"/>
              <a:t>은 브라우저가 </a:t>
            </a:r>
            <a:r>
              <a:rPr lang="en-US" altLang="ko-KR" dirty="0"/>
              <a:t>HTML</a:t>
            </a:r>
            <a:r>
              <a:rPr lang="ko-KR" altLang="en-US" dirty="0"/>
              <a:t>을 다루기 위해 만든 “표준화된 객체 모델</a:t>
            </a:r>
            <a:r>
              <a:rPr lang="en-US" altLang="ko-KR" dirty="0"/>
              <a:t>”</a:t>
            </a:r>
          </a:p>
          <a:p>
            <a:endParaRPr lang="en-US" altLang="ko-KR" dirty="0"/>
          </a:p>
          <a:p>
            <a:r>
              <a:rPr lang="en-US" altLang="ko-KR" dirty="0"/>
              <a:t>HTML</a:t>
            </a:r>
            <a:r>
              <a:rPr lang="ko-KR" altLang="en-US" dirty="0"/>
              <a:t>은 사실 그냥 텍스트 파일입니다</a:t>
            </a:r>
            <a:r>
              <a:rPr lang="en-US" altLang="ko-KR" dirty="0"/>
              <a:t>. </a:t>
            </a:r>
            <a:r>
              <a:rPr lang="ko-KR" altLang="en-US" dirty="0"/>
              <a:t>이 상태에서는 특정 요소를 찾거나</a:t>
            </a:r>
            <a:r>
              <a:rPr lang="en-US" altLang="ko-KR" dirty="0"/>
              <a:t>, </a:t>
            </a:r>
            <a:r>
              <a:rPr lang="ko-KR" altLang="en-US" dirty="0"/>
              <a:t>수정하거나</a:t>
            </a:r>
            <a:r>
              <a:rPr lang="en-US" altLang="ko-KR" dirty="0"/>
              <a:t>, </a:t>
            </a:r>
            <a:r>
              <a:rPr lang="ko-KR" altLang="en-US" dirty="0"/>
              <a:t>프로그램처럼 다루기가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브라우저는 </a:t>
            </a:r>
            <a:r>
              <a:rPr lang="en-US" altLang="ko-KR" dirty="0"/>
              <a:t>HTML</a:t>
            </a:r>
            <a:r>
              <a:rPr lang="ko-KR" altLang="en-US" dirty="0"/>
              <a:t>을 읽은 뒤</a:t>
            </a:r>
            <a:r>
              <a:rPr lang="en-US" altLang="ko-KR" dirty="0"/>
              <a:t>, </a:t>
            </a:r>
            <a:r>
              <a:rPr lang="ko-KR" altLang="en-US" dirty="0"/>
              <a:t>이를 트리 구조로 변환해서 </a:t>
            </a:r>
            <a:r>
              <a:rPr lang="en-US" altLang="ko-KR" dirty="0"/>
              <a:t>DOM</a:t>
            </a:r>
            <a:r>
              <a:rPr lang="ko-KR" altLang="en-US" dirty="0"/>
              <a:t>을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이렇게 구조화된 </a:t>
            </a:r>
            <a:r>
              <a:rPr lang="en-US" altLang="ko-KR" dirty="0"/>
              <a:t>DOM</a:t>
            </a:r>
            <a:r>
              <a:rPr lang="ko-KR" altLang="en-US" dirty="0"/>
              <a:t>을 사용하면</a:t>
            </a:r>
            <a:r>
              <a:rPr lang="en-US" altLang="ko-KR" dirty="0"/>
              <a:t>, </a:t>
            </a:r>
            <a:r>
              <a:rPr lang="ko-KR" altLang="en-US" dirty="0"/>
              <a:t>특정 요소를 쉽게 찾을 수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JavaScript</a:t>
            </a:r>
            <a:r>
              <a:rPr lang="ko-KR" altLang="en-US" dirty="0"/>
              <a:t>를 통해 동적으로 변경할 수도 있습니다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DOM</a:t>
            </a:r>
            <a:r>
              <a:rPr lang="ko-KR" altLang="en-US" dirty="0"/>
              <a:t>은 </a:t>
            </a:r>
            <a:r>
              <a:rPr lang="en-US" altLang="ko-KR" dirty="0"/>
              <a:t>HTML</a:t>
            </a:r>
            <a:r>
              <a:rPr lang="ko-KR" altLang="en-US" dirty="0"/>
              <a:t>을 단순한 텍스트가 아니라 ‘</a:t>
            </a:r>
            <a:r>
              <a:rPr lang="ko-KR" altLang="en-US" b="1" dirty="0"/>
              <a:t>조작 가능한 </a:t>
            </a:r>
            <a:r>
              <a:rPr lang="ko-KR" altLang="en-US" b="1" dirty="0" err="1"/>
              <a:t>구조</a:t>
            </a:r>
            <a:r>
              <a:rPr lang="ko-KR" altLang="en-US" dirty="0" err="1"/>
              <a:t>’로</a:t>
            </a:r>
            <a:r>
              <a:rPr lang="ko-KR" altLang="en-US" dirty="0"/>
              <a:t> 바꿔주는 역할을 합니다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4530B-93E7-4597-604C-A587C87BE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463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70234-5E5E-E491-C5A5-3C49A715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AE3CAA-84FD-F049-3F6E-16E7FE9A0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547889-4EF3-9564-0499-F2E0263A2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r>
              <a:rPr lang="ko-KR" altLang="en-US" dirty="0"/>
              <a:t>의 구성 요소를 잠깐 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EDC16B-629F-71DF-D4A3-7299ED73E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139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583C3-B017-2C98-AF03-E1E1900FB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F9F834-7A9A-A88E-9D72-249FA4945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DF82CD-B01A-7A95-379A-D617B32BE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이 </a:t>
            </a:r>
            <a:r>
              <a:rPr lang="en-US" altLang="ko-KR" dirty="0"/>
              <a:t>DOM</a:t>
            </a:r>
            <a:r>
              <a:rPr lang="ko-KR" altLang="en-US" dirty="0"/>
              <a:t>이라는 구조로 변환되는 것처럼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CSS</a:t>
            </a:r>
            <a:r>
              <a:rPr lang="ko-KR" altLang="en-US" dirty="0"/>
              <a:t>도 브라우저에 의해 </a:t>
            </a:r>
            <a:r>
              <a:rPr lang="en-US" altLang="ko-KR" dirty="0"/>
              <a:t>CSSOM</a:t>
            </a:r>
            <a:r>
              <a:rPr lang="ko-KR" altLang="en-US" dirty="0"/>
              <a:t>이라는 구조로 변환됩니다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CSSOM</a:t>
            </a:r>
            <a:r>
              <a:rPr lang="ko-KR" altLang="en-US" dirty="0"/>
              <a:t>은 각 요소에 어떤 스타일이 적용되는지를 담고 있는 </a:t>
            </a:r>
            <a:r>
              <a:rPr lang="ko-KR" altLang="en-US" dirty="0" err="1"/>
              <a:t>구조죠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CSSOM</a:t>
            </a:r>
            <a:r>
              <a:rPr lang="ko-KR" altLang="en-US" dirty="0"/>
              <a:t>의 특징은 스타일이 위에서 아래로 전파된다는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body</a:t>
            </a:r>
            <a:r>
              <a:rPr lang="ko-KR" altLang="en-US" dirty="0"/>
              <a:t>에 </a:t>
            </a:r>
            <a:r>
              <a:rPr lang="en-US" altLang="ko-KR" dirty="0"/>
              <a:t>font-size</a:t>
            </a:r>
            <a:r>
              <a:rPr lang="ko-KR" altLang="en-US" dirty="0"/>
              <a:t>가 </a:t>
            </a:r>
            <a:r>
              <a:rPr lang="en-US" altLang="ko-KR" dirty="0"/>
              <a:t>16px</a:t>
            </a:r>
            <a:r>
              <a:rPr lang="ko-KR" altLang="en-US" dirty="0"/>
              <a:t>로 설정되어 있으면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아래에 있는 </a:t>
            </a:r>
            <a:r>
              <a:rPr lang="en-US" altLang="ko-KR" dirty="0"/>
              <a:t>p</a:t>
            </a:r>
            <a:r>
              <a:rPr lang="ko-KR" altLang="en-US" dirty="0"/>
              <a:t>나 </a:t>
            </a:r>
            <a:r>
              <a:rPr lang="en-US" altLang="ko-KR" dirty="0"/>
              <a:t>span </a:t>
            </a:r>
            <a:r>
              <a:rPr lang="ko-KR" altLang="en-US" dirty="0"/>
              <a:t>같은 요소들도 기본적으로 이 값을 상속받게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특정 요소에서 스타일을 다시 지정하면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요소의 스타일이 우선적으로 적용됩니다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CSS</a:t>
            </a:r>
            <a:r>
              <a:rPr lang="ko-KR" altLang="en-US" dirty="0"/>
              <a:t>는 ‘</a:t>
            </a:r>
            <a:r>
              <a:rPr lang="en-US" altLang="ko-KR" dirty="0"/>
              <a:t>Cascading’, </a:t>
            </a:r>
            <a:r>
              <a:rPr lang="ko-KR" altLang="en-US" dirty="0"/>
              <a:t>즉 폭포처럼 위에서 아래로 흐르면서</a:t>
            </a:r>
            <a:br>
              <a:rPr lang="ko-KR" altLang="en-US" dirty="0"/>
            </a:br>
            <a:r>
              <a:rPr lang="ko-KR" altLang="en-US" dirty="0"/>
              <a:t>스타일이 적용된다고 표현합니다</a:t>
            </a:r>
            <a:r>
              <a:rPr lang="en-US" altLang="ko-KR" dirty="0"/>
              <a:t>.”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6A843-F2F3-D9FF-A473-8409F531E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773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E500D-0E72-E443-C7E3-B441F1A2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B7AC38-F27B-C99E-5BD2-183A1D429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32A3D8-7CEC-580D-34AA-E2590C0EB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DOM</a:t>
            </a:r>
            <a:r>
              <a:rPr lang="ko-KR" altLang="en-US" dirty="0"/>
              <a:t>과 </a:t>
            </a:r>
            <a:r>
              <a:rPr lang="en-US" altLang="ko-KR" dirty="0"/>
              <a:t>CSSOM</a:t>
            </a:r>
            <a:r>
              <a:rPr lang="ko-KR" altLang="en-US" dirty="0"/>
              <a:t>이 준비되면</a:t>
            </a:r>
            <a:r>
              <a:rPr lang="en-US" altLang="ko-KR" dirty="0"/>
              <a:t>, </a:t>
            </a:r>
            <a:r>
              <a:rPr lang="ko-KR" altLang="en-US" dirty="0"/>
              <a:t>이 두 가지를 합쳐서 </a:t>
            </a:r>
            <a:r>
              <a:rPr lang="en-US" altLang="ko-KR" dirty="0"/>
              <a:t>Render Tree</a:t>
            </a:r>
            <a:r>
              <a:rPr lang="ko-KR" altLang="en-US" dirty="0"/>
              <a:t>를 만들게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DOM</a:t>
            </a:r>
            <a:r>
              <a:rPr lang="ko-KR" altLang="en-US" dirty="0"/>
              <a:t>은 구조를 나타내고</a:t>
            </a:r>
            <a:r>
              <a:rPr lang="en-US" altLang="ko-KR" dirty="0"/>
              <a:t>, CSSOM</a:t>
            </a:r>
            <a:r>
              <a:rPr lang="ko-KR" altLang="en-US" dirty="0"/>
              <a:t>은 스타일 정보를 담고 있기 때문에</a:t>
            </a:r>
            <a:r>
              <a:rPr lang="en-US" altLang="ko-KR" dirty="0"/>
              <a:t>, </a:t>
            </a:r>
            <a:r>
              <a:rPr lang="ko-KR" altLang="en-US" dirty="0"/>
              <a:t>이 둘이 결합되어 실제 화면에 그려질 요소들이 결정됩니다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중요한 점은</a:t>
            </a:r>
            <a:r>
              <a:rPr lang="en-US" altLang="ko-KR" dirty="0"/>
              <a:t>, Render Tree</a:t>
            </a:r>
            <a:r>
              <a:rPr lang="ko-KR" altLang="en-US" dirty="0"/>
              <a:t>에는 화면에 보이는 요소만 포함된다는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</a:t>
            </a:r>
            <a:r>
              <a:rPr lang="en-US" altLang="ko-KR" dirty="0"/>
              <a:t>, display: none</a:t>
            </a:r>
            <a:r>
              <a:rPr lang="ko-KR" altLang="en-US" dirty="0"/>
              <a:t>이 적용된 요소는 </a:t>
            </a:r>
            <a:r>
              <a:rPr lang="en-US" altLang="ko-KR" dirty="0"/>
              <a:t>DOM</a:t>
            </a:r>
            <a:r>
              <a:rPr lang="ko-KR" altLang="en-US" dirty="0"/>
              <a:t>에는 존재하지만</a:t>
            </a:r>
            <a:r>
              <a:rPr lang="en-US" altLang="ko-KR" dirty="0"/>
              <a:t>, </a:t>
            </a:r>
            <a:r>
              <a:rPr lang="ko-KR" altLang="en-US" dirty="0"/>
              <a:t>화면에 보이지 않기 때문에 </a:t>
            </a:r>
            <a:r>
              <a:rPr lang="en-US" altLang="ko-KR" dirty="0"/>
              <a:t>Render Tree</a:t>
            </a:r>
            <a:r>
              <a:rPr lang="ko-KR" altLang="en-US" dirty="0"/>
              <a:t>에는 포함되지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Render Tree</a:t>
            </a:r>
            <a:r>
              <a:rPr lang="ko-KR" altLang="en-US" dirty="0"/>
              <a:t>는 ‘</a:t>
            </a:r>
            <a:r>
              <a:rPr lang="ko-KR" altLang="en-US" b="1" dirty="0"/>
              <a:t>실제로 화면에 그려질 것들만 모아놓은 </a:t>
            </a:r>
            <a:r>
              <a:rPr lang="ko-KR" altLang="en-US" b="1" dirty="0" err="1"/>
              <a:t>구조</a:t>
            </a:r>
            <a:r>
              <a:rPr lang="ko-KR" altLang="en-US" dirty="0" err="1"/>
              <a:t>’라고</a:t>
            </a:r>
            <a:r>
              <a:rPr lang="ko-KR" altLang="en-US" dirty="0"/>
              <a:t> 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A9B68-2E87-5AF5-78CC-2CA71F682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798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BE05-01AE-AD14-8E13-58123514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74318-64F6-9D38-0EFB-38B79F146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708E8E-EF94-0B94-5415-96028F20F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1065B1-A0CA-2260-45F2-0B3514D15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371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18472-AF16-F8A0-4805-A4CAE79B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602FB4-9F47-6C74-3D89-B8C032282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911AC-8AF0-7C27-E4E4-844AE564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1200B-0567-840B-C9A2-566E4164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B2F9BB-7F15-D1C6-E7A2-8AC13870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9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975A3-0167-E200-9602-0A3C3AC8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7D266-4D75-8CE1-3FBB-AA3BAC3ED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8F0C40-F8FE-6C9A-118E-F8D1C937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73C09B-6F70-A7EC-37ED-499036E3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6EE144-1C9C-803E-25DA-93AF6F13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80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E98B8-FB79-13B1-ED78-701B6D7E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9C38C-D49F-75D7-C89C-7ACC973BD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18CB0-D617-D28D-24A4-35DA1B9E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59B1C-E96F-EC92-2C2A-6E7F6F80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AE1489-4FB2-AD55-FD8E-F5D379EC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14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DCC8E-3AFF-1E82-9559-60AC9F78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2E9FD-2A38-7898-A6C3-A5C54FA5A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0F4D1-4430-7572-76C5-52AEC99D3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5A4AB-D3B6-238F-C4B1-64F516FE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F0E28F-1F85-35D6-8961-154AD16B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FA8892-921F-7359-EBE4-F7084189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98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9FF6B-74C8-DB9A-383C-23D2036F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C7DB05-371D-CF86-7530-57D4633DD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3B3C3-36CD-402D-E474-D488ED665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FA4E50-5F9F-8141-CE41-BF87EB5DB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E5AE84-3175-40E0-E3AD-57E024F3E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190A46-797A-E775-734F-D15AC862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CF048D-2E2A-9166-88AA-629AF143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8CF8E5-820F-4931-16D9-68D7D5A5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61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74144-A625-BE0C-CB04-735C5CC5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A5CA6B-9447-CCB1-689C-9506FD26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C0E809-0310-A352-54E7-19AF5620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00D22D-2E7C-3F63-BEEC-2DFD8766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82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618E24-06E5-111B-B5EC-48097D1D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B6F927-3955-41AC-313F-D0F8C90E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D6110-3621-265E-15EA-461CB8B8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21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6F501-4DF1-C12F-D006-B17E16ED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75C19-2B52-CDAB-0F94-F1EE8F5B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559140-5D4E-2A27-BBC4-6D5B954BD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67638-E308-2B66-E8FD-AE5E05E5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2751FA-2DD8-8F5C-3774-E53D574A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07F9E5-3BDE-D906-8186-7D0F1554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5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D5054-29D7-9B96-9B5B-3ECCA577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4F5CC0-2DB7-64FC-BC21-82C5D380E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BF9D10-048C-A0C3-6A86-4B0DD507B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9AC9CE-7330-2C54-16D3-5EFF18C3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653EF-4394-F517-CA69-AA40FD90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5125F5-FFCA-BB24-0B6B-B7C4CF57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2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A5DE6-13DB-BFFC-D5E9-C677513E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2CA0E3-B506-ED77-E439-7CB3EB1C0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39AA9-F94D-9FEE-C8C6-92389CAD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2683F-C4E8-728F-A285-1247727E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9536B1-2672-9038-A3D6-B91C7D39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27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09BABD-F2B6-850E-F2C2-09B1806FD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89B0F5-9265-DB1F-27FC-894BFDB37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9FB03-01AE-41D7-FE68-2FC8041B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C3B847-BBCE-8F43-735D-80E7E63B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3B74A5-B5C0-A070-17AA-A3E05C95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7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243CD2-72CE-25F0-C4A8-1BABCD90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D9DC67-6B9E-1F1E-1FAF-BADB47FF8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4BA33-A704-6128-7D5A-9414C5901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85DFA-902D-4C80-9A31-E7AC8CC5CB1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76430-BCA4-8D40-3E3E-E3A38DEDB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B2E9E-0DFD-1E57-0900-AE69B65B8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11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31744-coder-transparent-imag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E3AC-0C06-ED5F-0067-EA8E1257F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3369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프론트엔드</a:t>
            </a:r>
            <a:r>
              <a:rPr lang="ko-KR" altLang="en-US" b="1" dirty="0"/>
              <a:t> 트랙</a:t>
            </a:r>
            <a:br>
              <a:rPr lang="en-US" altLang="ko-KR" b="1" dirty="0"/>
            </a:br>
            <a:r>
              <a:rPr lang="en-US" altLang="ko-KR" b="1" dirty="0"/>
              <a:t>2</a:t>
            </a:r>
            <a:r>
              <a:rPr lang="ko-KR" altLang="en-US" b="1" dirty="0"/>
              <a:t>주차 학습 발표</a:t>
            </a:r>
            <a:endParaRPr lang="ko-KR" altLang="en-US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A7C6D-0A12-6447-FD99-5201153C3061}"/>
              </a:ext>
            </a:extLst>
          </p:cNvPr>
          <p:cNvSpPr txBox="1"/>
          <p:nvPr/>
        </p:nvSpPr>
        <p:spPr>
          <a:xfrm>
            <a:off x="2728451" y="3795754"/>
            <a:ext cx="6735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프론트엔드</a:t>
            </a:r>
            <a:r>
              <a:rPr lang="ko-KR" altLang="en-US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개발 </a:t>
            </a:r>
            <a:r>
              <a:rPr lang="en-US" altLang="ko-KR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HTML</a:t>
            </a:r>
            <a:r>
              <a:rPr lang="ko-KR" altLang="en-US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부터 </a:t>
            </a:r>
            <a:r>
              <a:rPr lang="ko-KR" altLang="en-US" sz="28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리액트까지</a:t>
            </a:r>
            <a:endParaRPr lang="ko-KR" altLang="en-US" sz="2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B198D-F65D-2703-60F4-089041DB98A3}"/>
              </a:ext>
            </a:extLst>
          </p:cNvPr>
          <p:cNvSpPr txBox="1"/>
          <p:nvPr/>
        </p:nvSpPr>
        <p:spPr>
          <a:xfrm>
            <a:off x="5550309" y="57946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8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발표자 </a:t>
            </a:r>
            <a:r>
              <a:rPr lang="en-US" altLang="ko-KR" sz="28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28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이효빈</a:t>
            </a:r>
            <a:endParaRPr lang="ko-KR" altLang="en-US" sz="2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28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302019-586C-E315-4018-4F177B00EB0C}"/>
              </a:ext>
            </a:extLst>
          </p:cNvPr>
          <p:cNvSpPr txBox="1"/>
          <p:nvPr/>
        </p:nvSpPr>
        <p:spPr>
          <a:xfrm>
            <a:off x="511278" y="481781"/>
            <a:ext cx="2420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프론트엔드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CFD2B0-5E21-57E2-05BB-0C6839F2D512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프론트엔드는</a:t>
            </a:r>
            <a:r>
              <a:rPr lang="ko-KR" altLang="en-US" dirty="0"/>
              <a:t> 사용자가 직접 사용하는 화면</a:t>
            </a:r>
            <a:r>
              <a:rPr lang="en-US" altLang="ko-KR" dirty="0"/>
              <a:t>, </a:t>
            </a:r>
            <a:r>
              <a:rPr lang="ko-KR" altLang="en-US" dirty="0"/>
              <a:t>인터페이스를 만드는 영역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BA95B2F-B32C-DAA2-8BFE-1214EB7F5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1231" y="3222521"/>
            <a:ext cx="1133169" cy="11331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382676-ADDC-6428-5808-ABDCF380DBEA}"/>
              </a:ext>
            </a:extLst>
          </p:cNvPr>
          <p:cNvSpPr txBox="1"/>
          <p:nvPr/>
        </p:nvSpPr>
        <p:spPr>
          <a:xfrm>
            <a:off x="511277" y="4355690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프론트엔드</a:t>
            </a:r>
            <a:r>
              <a:rPr lang="ko-KR" altLang="en-US" dirty="0"/>
              <a:t> 개발자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F32EB87-D3B9-E46B-13F9-1708C0704C74}"/>
              </a:ext>
            </a:extLst>
          </p:cNvPr>
          <p:cNvSpPr/>
          <p:nvPr/>
        </p:nvSpPr>
        <p:spPr>
          <a:xfrm>
            <a:off x="6435184" y="2081980"/>
            <a:ext cx="4247595" cy="10422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디자인 적용 </a:t>
            </a:r>
            <a:r>
              <a:rPr lang="en-US" altLang="ko-KR" sz="1600" dirty="0">
                <a:solidFill>
                  <a:schemeClr val="tx1"/>
                </a:solidFill>
              </a:rPr>
              <a:t>/ </a:t>
            </a:r>
            <a:r>
              <a:rPr lang="ko-KR" altLang="en-US" sz="1600" dirty="0">
                <a:solidFill>
                  <a:schemeClr val="tx1"/>
                </a:solidFill>
              </a:rPr>
              <a:t>레이아웃 구성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58B4DD8-6EF0-B8AB-7AF7-5ECD7D60C9C5}"/>
              </a:ext>
            </a:extLst>
          </p:cNvPr>
          <p:cNvSpPr/>
          <p:nvPr/>
        </p:nvSpPr>
        <p:spPr>
          <a:xfrm>
            <a:off x="6435184" y="3529779"/>
            <a:ext cx="4247595" cy="10422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버튼클릭</a:t>
            </a:r>
            <a:r>
              <a:rPr lang="en-US" altLang="ko-KR" sz="1600" dirty="0">
                <a:solidFill>
                  <a:schemeClr val="tx1"/>
                </a:solidFill>
              </a:rPr>
              <a:t> / </a:t>
            </a:r>
            <a:r>
              <a:rPr lang="ko-KR" altLang="en-US" sz="1600" dirty="0">
                <a:solidFill>
                  <a:schemeClr val="tx1"/>
                </a:solidFill>
              </a:rPr>
              <a:t>로그인 입력 </a:t>
            </a:r>
            <a:r>
              <a:rPr lang="en-US" altLang="ko-KR" sz="1600" dirty="0">
                <a:solidFill>
                  <a:schemeClr val="tx1"/>
                </a:solidFill>
              </a:rPr>
              <a:t>/ </a:t>
            </a:r>
            <a:r>
              <a:rPr lang="ko-KR" altLang="en-US" sz="1600" dirty="0">
                <a:solidFill>
                  <a:schemeClr val="tx1"/>
                </a:solidFill>
              </a:rPr>
              <a:t>폼 데이터 처리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A96BD5A-7868-1199-76FD-2AD89CC84981}"/>
              </a:ext>
            </a:extLst>
          </p:cNvPr>
          <p:cNvSpPr/>
          <p:nvPr/>
        </p:nvSpPr>
        <p:spPr>
          <a:xfrm>
            <a:off x="6435184" y="4977578"/>
            <a:ext cx="4247595" cy="10422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데이터 받아오기 </a:t>
            </a:r>
            <a:r>
              <a:rPr lang="en-US" altLang="ko-KR" sz="1600" dirty="0">
                <a:solidFill>
                  <a:schemeClr val="tx1"/>
                </a:solidFill>
              </a:rPr>
              <a:t>– </a:t>
            </a:r>
            <a:r>
              <a:rPr lang="ko-KR" altLang="en-US" sz="1600" dirty="0">
                <a:solidFill>
                  <a:schemeClr val="tx1"/>
                </a:solidFill>
              </a:rPr>
              <a:t>화면에 출력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1883F2-A940-2F6A-F4A6-C3981CF1FB87}"/>
              </a:ext>
            </a:extLst>
          </p:cNvPr>
          <p:cNvSpPr txBox="1"/>
          <p:nvPr/>
        </p:nvSpPr>
        <p:spPr>
          <a:xfrm>
            <a:off x="3452916" y="3866222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사용자 입력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764AE5-264D-CE79-6B6A-83D8B2ABF5B1}"/>
              </a:ext>
            </a:extLst>
          </p:cNvPr>
          <p:cNvSpPr txBox="1"/>
          <p:nvPr/>
        </p:nvSpPr>
        <p:spPr>
          <a:xfrm>
            <a:off x="3409733" y="2418423"/>
            <a:ext cx="25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화면 구성</a:t>
            </a:r>
            <a:r>
              <a:rPr lang="en-US" altLang="ko-KR" b="1" dirty="0"/>
              <a:t> (</a:t>
            </a:r>
            <a:r>
              <a:rPr lang="ko-KR" altLang="en-US" b="1" dirty="0"/>
              <a:t>스타일링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0C9C9D-A478-AEAE-9F93-67A50736EC3E}"/>
              </a:ext>
            </a:extLst>
          </p:cNvPr>
          <p:cNvSpPr txBox="1"/>
          <p:nvPr/>
        </p:nvSpPr>
        <p:spPr>
          <a:xfrm>
            <a:off x="3452916" y="5354512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서버와 통신</a:t>
            </a:r>
          </a:p>
        </p:txBody>
      </p:sp>
    </p:spTree>
    <p:extLst>
      <p:ext uri="{BB962C8B-B14F-4D97-AF65-F5344CB8AC3E}">
        <p14:creationId xmlns:p14="http://schemas.microsoft.com/office/powerpoint/2010/main" val="379710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36112F-F84E-64C3-4E4E-92F5A5C92824}"/>
              </a:ext>
            </a:extLst>
          </p:cNvPr>
          <p:cNvSpPr txBox="1"/>
          <p:nvPr/>
        </p:nvSpPr>
        <p:spPr>
          <a:xfrm>
            <a:off x="511278" y="481781"/>
            <a:ext cx="5730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화면 구성 </a:t>
            </a:r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HTML,</a:t>
            </a:r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CSS, JS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45D34C-E410-523E-8A43-255B8F88E9B5}"/>
              </a:ext>
            </a:extLst>
          </p:cNvPr>
          <p:cNvSpPr txBox="1"/>
          <p:nvPr/>
        </p:nvSpPr>
        <p:spPr>
          <a:xfrm>
            <a:off x="511277" y="1203070"/>
            <a:ext cx="747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HTML, CSS, JavaScript</a:t>
            </a:r>
            <a:r>
              <a:rPr lang="ko-KR" altLang="en-US" dirty="0"/>
              <a:t>는 모든 브라우저가 공통으로 이해하는 </a:t>
            </a:r>
            <a:r>
              <a:rPr lang="ko-KR" altLang="en-US" b="1" dirty="0"/>
              <a:t>웹 표준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266FC-6EC3-F98C-F459-245DDA4EA7EB}"/>
              </a:ext>
            </a:extLst>
          </p:cNvPr>
          <p:cNvSpPr txBox="1"/>
          <p:nvPr/>
        </p:nvSpPr>
        <p:spPr>
          <a:xfrm>
            <a:off x="8144256" y="2690336"/>
            <a:ext cx="23896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문서 → </a:t>
            </a:r>
            <a:r>
              <a:rPr lang="en-US" altLang="ko-KR" dirty="0"/>
              <a:t>HTML</a:t>
            </a:r>
          </a:p>
          <a:p>
            <a:br>
              <a:rPr lang="en-US" altLang="ko-KR" dirty="0"/>
            </a:br>
            <a:r>
              <a:rPr lang="ko-KR" altLang="en-US" dirty="0"/>
              <a:t>디자인 필요 → </a:t>
            </a:r>
            <a:r>
              <a:rPr lang="en-US" altLang="ko-KR" dirty="0"/>
              <a:t>CSS</a:t>
            </a:r>
          </a:p>
          <a:p>
            <a:br>
              <a:rPr lang="en-US" altLang="ko-KR" dirty="0"/>
            </a:br>
            <a:r>
              <a:rPr lang="ko-KR" altLang="en-US" dirty="0"/>
              <a:t>동작 필요 → </a:t>
            </a:r>
            <a:r>
              <a:rPr lang="en-US" altLang="ko-KR" dirty="0"/>
              <a:t>JS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EA8AC1-8230-7044-CBDF-E65F4E28A538}"/>
              </a:ext>
            </a:extLst>
          </p:cNvPr>
          <p:cNvSpPr txBox="1"/>
          <p:nvPr/>
        </p:nvSpPr>
        <p:spPr>
          <a:xfrm>
            <a:off x="511277" y="5970796"/>
            <a:ext cx="747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웹은 하나의 언어가 아니라</a:t>
            </a:r>
            <a:r>
              <a:rPr lang="en-US" altLang="ko-KR" dirty="0"/>
              <a:t>, </a:t>
            </a:r>
            <a:r>
              <a:rPr lang="ko-KR" altLang="en-US" dirty="0"/>
              <a:t>역할이 나뉜 세 가지 기술로 만들어진다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BE79E7-C852-A409-A62F-F0828B7C6D6A}"/>
              </a:ext>
            </a:extLst>
          </p:cNvPr>
          <p:cNvGrpSpPr/>
          <p:nvPr/>
        </p:nvGrpSpPr>
        <p:grpSpPr>
          <a:xfrm>
            <a:off x="390143" y="1759586"/>
            <a:ext cx="8478789" cy="3929829"/>
            <a:chOff x="390144" y="1759586"/>
            <a:chExt cx="7875205" cy="365007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037D831-014C-0CFA-4067-06C831A22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144" y="1759586"/>
              <a:ext cx="6307515" cy="354797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5F5A56-517E-EF55-9A73-12CF70068854}"/>
                </a:ext>
              </a:extLst>
            </p:cNvPr>
            <p:cNvSpPr txBox="1"/>
            <p:nvPr/>
          </p:nvSpPr>
          <p:spPr>
            <a:xfrm>
              <a:off x="792354" y="5166673"/>
              <a:ext cx="7472995" cy="242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/>
                <a:t>Image Source : https://www.books.weniv.co.kr/essentials-html-css/chapter01/01-3</a:t>
              </a:r>
              <a:endParaRPr lang="ko-KR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4857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0457-E04F-3065-B265-0F23B0E7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F1DECF-7B43-3159-0DA8-38A3969F6AAE}"/>
              </a:ext>
            </a:extLst>
          </p:cNvPr>
          <p:cNvSpPr txBox="1"/>
          <p:nvPr/>
        </p:nvSpPr>
        <p:spPr>
          <a:xfrm>
            <a:off x="511278" y="481781"/>
            <a:ext cx="8829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화면 구성 </a:t>
            </a:r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브라우저가 화면을 그리는 방법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CC6818-CB38-9D84-B4EB-FC68EC8706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4" t="19488" r="1811" b="10183"/>
          <a:stretch>
            <a:fillRect/>
          </a:stretch>
        </p:blipFill>
        <p:spPr>
          <a:xfrm>
            <a:off x="744659" y="1766589"/>
            <a:ext cx="9737487" cy="47451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3DB012-E242-1514-667F-6ADB353D7519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브라우저</a:t>
            </a:r>
            <a:r>
              <a:rPr lang="ko-KR" altLang="en-US" dirty="0"/>
              <a:t>가 코드를 해석해서 화면을 만든다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300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D6E6-E2AA-9B3E-B31C-FC520169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37F600-FE9D-9206-A142-5E8B17AD46F4}"/>
              </a:ext>
            </a:extLst>
          </p:cNvPr>
          <p:cNvSpPr txBox="1"/>
          <p:nvPr/>
        </p:nvSpPr>
        <p:spPr>
          <a:xfrm>
            <a:off x="511278" y="481781"/>
            <a:ext cx="6788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DOM – Document Object Model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51BAC-D935-A9A9-B2B4-7F3DAD70E6D0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DOM</a:t>
            </a:r>
            <a:r>
              <a:rPr lang="ko-KR" altLang="en-US" dirty="0"/>
              <a:t>은 브라우저가 </a:t>
            </a:r>
            <a:r>
              <a:rPr lang="en-US" altLang="ko-KR" dirty="0"/>
              <a:t>HTML</a:t>
            </a:r>
            <a:r>
              <a:rPr lang="ko-KR" altLang="en-US" dirty="0"/>
              <a:t>을 다루기 위해 만든 </a:t>
            </a:r>
            <a:r>
              <a:rPr lang="ko-KR" altLang="en-US" b="1" dirty="0"/>
              <a:t>표준화된 객체 모델</a:t>
            </a:r>
            <a:endParaRPr lang="en-US" altLang="ko-KR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F7FD2-E736-BA25-6446-95CF2F3DCE15}"/>
              </a:ext>
            </a:extLst>
          </p:cNvPr>
          <p:cNvSpPr txBox="1"/>
          <p:nvPr/>
        </p:nvSpPr>
        <p:spPr>
          <a:xfrm>
            <a:off x="654310" y="2432006"/>
            <a:ext cx="234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HTML</a:t>
            </a:r>
            <a:r>
              <a:rPr lang="ko-KR" altLang="en-US" dirty="0"/>
              <a:t>은 그냥 텍스트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A7B8EF-50F0-21E8-2305-EBD2A4642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10" y="2967664"/>
            <a:ext cx="4346479" cy="25471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49DD95C-5FAB-4455-8827-9FDB62B34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211" y="1878864"/>
            <a:ext cx="4346479" cy="4433062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DCB386C-697D-E394-4BAE-62F8E35FB202}"/>
              </a:ext>
            </a:extLst>
          </p:cNvPr>
          <p:cNvCxnSpPr>
            <a:cxnSpLocks/>
          </p:cNvCxnSpPr>
          <p:nvPr/>
        </p:nvCxnSpPr>
        <p:spPr>
          <a:xfrm>
            <a:off x="5376672" y="4095395"/>
            <a:ext cx="147523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10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FE75-E5A1-2E5D-D95E-DC1BCD69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33C65CC-E825-0BBA-6353-FE57DBF8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2" y="268224"/>
            <a:ext cx="6814570" cy="6315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CB1181-1999-D8C6-E6D1-08DBF4A55EE4}"/>
              </a:ext>
            </a:extLst>
          </p:cNvPr>
          <p:cNvSpPr txBox="1"/>
          <p:nvPr/>
        </p:nvSpPr>
        <p:spPr>
          <a:xfrm>
            <a:off x="7400544" y="731443"/>
            <a:ext cx="3767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Element Node</a:t>
            </a:r>
          </a:p>
          <a:p>
            <a:pPr>
              <a:buNone/>
            </a:pPr>
            <a:r>
              <a:rPr lang="ko-KR" altLang="en-US" dirty="0"/>
              <a:t>👉 </a:t>
            </a:r>
            <a:r>
              <a:rPr lang="en-US" altLang="ko-KR" dirty="0">
                <a:latin typeface="Courier New" panose="02070309020205020404" pitchFamily="49" charset="0"/>
              </a:rPr>
              <a:t>&lt;body&gt;</a:t>
            </a:r>
            <a:r>
              <a:rPr lang="en-US" altLang="ko-KR" dirty="0"/>
              <a:t>, </a:t>
            </a:r>
            <a:r>
              <a:rPr lang="en-US" altLang="ko-KR" dirty="0">
                <a:latin typeface="Courier New" panose="02070309020205020404" pitchFamily="49" charset="0"/>
              </a:rPr>
              <a:t>&lt;p&gt;</a:t>
            </a:r>
            <a:r>
              <a:rPr lang="en-US" altLang="ko-KR" dirty="0"/>
              <a:t>, </a:t>
            </a:r>
            <a:r>
              <a:rPr lang="en-US" altLang="ko-KR" dirty="0">
                <a:latin typeface="Courier New" panose="02070309020205020404" pitchFamily="49" charset="0"/>
              </a:rPr>
              <a:t>&lt;h1&gt;</a:t>
            </a:r>
            <a:r>
              <a:rPr lang="en-US" altLang="ko-KR" dirty="0"/>
              <a:t> </a:t>
            </a:r>
            <a:r>
              <a:rPr lang="ko-KR" altLang="en-US" dirty="0"/>
              <a:t>같은 태그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67BA33-18C0-B909-A7AC-955A9C18D577}"/>
              </a:ext>
            </a:extLst>
          </p:cNvPr>
          <p:cNvSpPr txBox="1"/>
          <p:nvPr/>
        </p:nvSpPr>
        <p:spPr>
          <a:xfrm>
            <a:off x="7400544" y="2072563"/>
            <a:ext cx="4462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Text Node</a:t>
            </a:r>
          </a:p>
          <a:p>
            <a:pPr>
              <a:buNone/>
            </a:pPr>
            <a:r>
              <a:rPr lang="ko-KR" altLang="en-US" dirty="0"/>
              <a:t>👉 </a:t>
            </a:r>
            <a:r>
              <a:rPr lang="en-US" altLang="ko-KR" dirty="0">
                <a:latin typeface="Courier New" panose="02070309020205020404" pitchFamily="49" charset="0"/>
              </a:rPr>
              <a:t>"Hello World"</a:t>
            </a:r>
            <a:r>
              <a:rPr lang="en-US" altLang="ko-KR" dirty="0"/>
              <a:t> </a:t>
            </a:r>
            <a:r>
              <a:rPr lang="ko-KR" altLang="en-US" dirty="0"/>
              <a:t>같은 실제 텍스트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B0383-9E5A-647A-620E-E56083447D37}"/>
              </a:ext>
            </a:extLst>
          </p:cNvPr>
          <p:cNvSpPr txBox="1"/>
          <p:nvPr/>
        </p:nvSpPr>
        <p:spPr>
          <a:xfrm>
            <a:off x="7400544" y="34136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Attribute (</a:t>
            </a:r>
            <a:r>
              <a:rPr lang="ko-KR" altLang="en-US" b="1" dirty="0"/>
              <a:t>속성</a:t>
            </a:r>
            <a:r>
              <a:rPr lang="en-US" altLang="ko-KR" b="1" dirty="0"/>
              <a:t>)</a:t>
            </a:r>
          </a:p>
          <a:p>
            <a:pPr>
              <a:buNone/>
            </a:pPr>
            <a:r>
              <a:rPr lang="ko-KR" altLang="en-US" dirty="0"/>
              <a:t>👉 </a:t>
            </a:r>
            <a:r>
              <a:rPr lang="en-US" altLang="ko-KR" dirty="0">
                <a:latin typeface="Courier New" panose="02070309020205020404" pitchFamily="49" charset="0"/>
              </a:rPr>
              <a:t>class="..."</a:t>
            </a:r>
            <a:r>
              <a:rPr lang="en-US" altLang="ko-KR" dirty="0"/>
              <a:t>, </a:t>
            </a:r>
            <a:r>
              <a:rPr lang="en-US" altLang="ko-KR" dirty="0" err="1">
                <a:latin typeface="Courier New" panose="02070309020205020404" pitchFamily="49" charset="0"/>
              </a:rPr>
              <a:t>href</a:t>
            </a:r>
            <a:r>
              <a:rPr lang="en-US" altLang="ko-KR" dirty="0">
                <a:latin typeface="Courier New" panose="02070309020205020404" pitchFamily="49" charset="0"/>
              </a:rPr>
              <a:t>="..."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FFBEF-7D5C-4E55-1917-EB3C6301E9F8}"/>
              </a:ext>
            </a:extLst>
          </p:cNvPr>
          <p:cNvSpPr txBox="1"/>
          <p:nvPr/>
        </p:nvSpPr>
        <p:spPr>
          <a:xfrm>
            <a:off x="7400544" y="5083987"/>
            <a:ext cx="4462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DOM</a:t>
            </a:r>
            <a:r>
              <a:rPr lang="ko-KR" altLang="en-US" b="1" dirty="0"/>
              <a:t>은 노드로 이루어진 트리 구조</a:t>
            </a:r>
            <a:r>
              <a:rPr lang="en-US" altLang="ko-KR" b="1" dirty="0"/>
              <a:t>,</a:t>
            </a:r>
            <a:br>
              <a:rPr lang="en-US" altLang="ko-KR" b="1" dirty="0"/>
            </a:br>
            <a:r>
              <a:rPr lang="en-US" altLang="ko-KR" b="1" dirty="0"/>
              <a:t>HTML</a:t>
            </a:r>
            <a:r>
              <a:rPr lang="ko-KR" altLang="en-US" b="1" dirty="0"/>
              <a:t>의 모든 요소가 노드로 표현된다</a:t>
            </a:r>
            <a:r>
              <a:rPr lang="en-US" altLang="ko-KR" b="1" dirty="0"/>
              <a:t>!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8665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47531-BFAC-A318-115D-8F669B43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9BBC9B-84FC-392C-D883-62502DB634A3}"/>
              </a:ext>
            </a:extLst>
          </p:cNvPr>
          <p:cNvSpPr txBox="1"/>
          <p:nvPr/>
        </p:nvSpPr>
        <p:spPr>
          <a:xfrm>
            <a:off x="511278" y="481781"/>
            <a:ext cx="5959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CSSOM – CSS Object Model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1D026-2BE1-426D-9DE1-DA671BEF3E69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CSSOM</a:t>
            </a:r>
            <a:r>
              <a:rPr lang="ko-KR" altLang="en-US" dirty="0"/>
              <a:t>은 각 요소에 어떤 스타일이 적용되는지를 담고 있는 구조</a:t>
            </a:r>
            <a:endParaRPr lang="en-US" altLang="ko-KR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AFA977B-FB69-101D-6F01-2ED3513C2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77" y="1997198"/>
            <a:ext cx="7048119" cy="397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B59435-EC1F-CEC5-2C6D-D4E7686DCA6B}"/>
              </a:ext>
            </a:extLst>
          </p:cNvPr>
          <p:cNvSpPr txBox="1"/>
          <p:nvPr/>
        </p:nvSpPr>
        <p:spPr>
          <a:xfrm>
            <a:off x="6470538" y="2227126"/>
            <a:ext cx="56567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Casacading</a:t>
            </a:r>
            <a:r>
              <a:rPr lang="en-US" altLang="ko-KR" b="1" dirty="0"/>
              <a:t> Style Sheet</a:t>
            </a:r>
          </a:p>
          <a:p>
            <a:endParaRPr lang="en-US" altLang="ko-KR" b="1" dirty="0"/>
          </a:p>
          <a:p>
            <a:r>
              <a:rPr lang="en-US" altLang="ko-KR" dirty="0" err="1"/>
              <a:t>Casacade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폭포처럼 위에서 아래로 떨어지다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037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02D8-3DBB-7BA5-BFA1-E60C2466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2BE37B-F4D4-4D6D-3FEC-EAAE62D93306}"/>
              </a:ext>
            </a:extLst>
          </p:cNvPr>
          <p:cNvSpPr txBox="1"/>
          <p:nvPr/>
        </p:nvSpPr>
        <p:spPr>
          <a:xfrm>
            <a:off x="511278" y="481781"/>
            <a:ext cx="2811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Render Tree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5394CE-2D79-AF66-7E5A-C6A33A24D6B1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Render Tree = DOM + CSSOM</a:t>
            </a:r>
            <a:r>
              <a:rPr lang="ko-KR" altLang="en-US" dirty="0"/>
              <a:t>이 합쳐진 결과</a:t>
            </a:r>
            <a:r>
              <a:rPr lang="en-US" altLang="ko-KR" dirty="0"/>
              <a:t>, </a:t>
            </a:r>
            <a:r>
              <a:rPr lang="ko-KR" altLang="en-US" b="1" dirty="0"/>
              <a:t>실제로 화면에 그려질 것들만 모아놓은 구조</a:t>
            </a:r>
            <a:endParaRPr lang="en-US" altLang="ko-KR" b="1" dirty="0"/>
          </a:p>
        </p:txBody>
      </p:sp>
      <p:pic>
        <p:nvPicPr>
          <p:cNvPr id="6146" name="Picture 2" descr="렌더링 트리 생성, 레이아웃 및 페인트 | Articles | web.dev">
            <a:extLst>
              <a:ext uri="{FF2B5EF4-FFF2-40B4-BE49-F238E27FC236}">
                <a16:creationId xmlns:a16="http://schemas.microsoft.com/office/drawing/2014/main" id="{EA00CBDF-6A37-5A43-988D-31899BB04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230" y="2036064"/>
            <a:ext cx="8606970" cy="401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693A13-D1F5-2284-A487-DA775ED7065E}"/>
              </a:ext>
            </a:extLst>
          </p:cNvPr>
          <p:cNvSpPr txBox="1"/>
          <p:nvPr/>
        </p:nvSpPr>
        <p:spPr>
          <a:xfrm>
            <a:off x="292608" y="6298788"/>
            <a:ext cx="11058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※ </a:t>
            </a:r>
            <a:r>
              <a:rPr lang="en-US" altLang="ko-KR" sz="1600" b="1" dirty="0"/>
              <a:t>display: none</a:t>
            </a:r>
            <a:r>
              <a:rPr lang="ko-KR" altLang="en-US" sz="1600" dirty="0"/>
              <a:t>이 적용된 요소는 </a:t>
            </a:r>
            <a:r>
              <a:rPr lang="en-US" altLang="ko-KR" sz="1600" dirty="0"/>
              <a:t>DOM</a:t>
            </a:r>
            <a:r>
              <a:rPr lang="ko-KR" altLang="en-US" sz="1600" dirty="0"/>
              <a:t>에는 존재하지만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화면에 보이지 않기 때문에 </a:t>
            </a:r>
            <a:r>
              <a:rPr lang="en-US" altLang="ko-KR" sz="1600" b="1" dirty="0"/>
              <a:t>Render Tree </a:t>
            </a:r>
            <a:r>
              <a:rPr lang="ko-KR" altLang="en-US" sz="1600" b="1" dirty="0"/>
              <a:t>포함 </a:t>
            </a:r>
            <a:r>
              <a:rPr lang="en-US" altLang="ko-KR" sz="1600" b="1" dirty="0"/>
              <a:t>X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22820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5219-6F27-450F-C688-F196A890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AB0DFE-4919-0385-06B3-5454DC99B36D}"/>
              </a:ext>
            </a:extLst>
          </p:cNvPr>
          <p:cNvSpPr txBox="1"/>
          <p:nvPr/>
        </p:nvSpPr>
        <p:spPr>
          <a:xfrm>
            <a:off x="511278" y="481781"/>
            <a:ext cx="4485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브라우저 렌더링 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D992FD-C06C-EF38-9E10-C5D9A5E9975B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이 모든 과정은 브라우저가 자동으로 처리한다</a:t>
            </a:r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99B915-3712-2F7F-5161-35B60323F8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4" t="19488" r="1811" b="10183"/>
          <a:stretch>
            <a:fillRect/>
          </a:stretch>
        </p:blipFill>
        <p:spPr>
          <a:xfrm>
            <a:off x="744659" y="1766589"/>
            <a:ext cx="9737487" cy="474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7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719</Words>
  <Application>Microsoft Office PowerPoint</Application>
  <PresentationFormat>와이드스크린</PresentationFormat>
  <Paragraphs>89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함초롬돋움</vt:lpstr>
      <vt:lpstr>Arial</vt:lpstr>
      <vt:lpstr>Courier New</vt:lpstr>
      <vt:lpstr>Office 테마</vt:lpstr>
      <vt:lpstr>프론트엔드 트랙 2주차 학습 발표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이효빈</dc:creator>
  <cp:lastModifiedBy>이효빈</cp:lastModifiedBy>
  <cp:revision>72</cp:revision>
  <dcterms:created xsi:type="dcterms:W3CDTF">2026-04-07T12:31:56Z</dcterms:created>
  <dcterms:modified xsi:type="dcterms:W3CDTF">2026-04-25T08:50:20Z</dcterms:modified>
</cp:coreProperties>
</file>