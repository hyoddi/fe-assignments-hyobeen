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9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4136" autoAdjust="0"/>
  </p:normalViewPr>
  <p:slideViewPr>
    <p:cSldViewPr snapToGrid="0">
      <p:cViewPr varScale="1">
        <p:scale>
          <a:sx n="53" d="100"/>
          <a:sy n="53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B7391-135F-4CD2-8DF8-1CE25E965FED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8C448-4B01-45DC-A693-05AA9EC75D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4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안녕하세요, 프론트엔드 트랙 5주차 학습 발표를 맡은 이효빈입니다.</a:t>
            </a:r>
          </a:p>
          <a:p>
            <a:r>
              <a:rPr lang="ko-KR" altLang="en-US" dirty="0"/>
              <a:t>오늘은 리액트를 본격적으로 배우기 전에, 꼭 알아야 할 ES6 핵심 문법들을 함께 살펴보겠습니다.</a:t>
            </a:r>
          </a:p>
          <a:p>
            <a:r>
              <a:rPr lang="ko-KR" altLang="en-US" dirty="0"/>
              <a:t>리액트 코드를 처음 보면 생소한 문법들이 많아서 당황할 수 있는데요, 오늘 이 내용을 미리 알아두시면 리액트 학습이 훨씬 수월해질 것입니다.</a:t>
            </a:r>
          </a:p>
          <a:p>
            <a:r>
              <a:rPr lang="ko-KR" altLang="en-US" dirty="0"/>
              <a:t>그럼 바로 시작하겠습니다.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274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리액트 코드를 처음 보면 이런 느낌이 드실 수 있습니다. "이게 도대체 무슨 코드지?" 하는 것이죠.</a:t>
            </a:r>
          </a:p>
          <a:p>
            <a:r>
              <a:rPr lang="ko-KR" altLang="en-US" dirty="0"/>
              <a:t>중괄호, 스프레드 연산자, 화살표 함수, map 같은 것들이 한꺼번에 나오니까 복잡해 보이는 것은 당연합니다.</a:t>
            </a:r>
          </a:p>
          <a:p>
            <a:r>
              <a:rPr lang="ko-KR" altLang="en-US" dirty="0"/>
              <a:t>하지만 사실 이 코드들은 전부 자바스크립트 ES6 문법입니다. 리액트만의 특별한 문법이 아니라는 것이죠.</a:t>
            </a:r>
          </a:p>
          <a:p>
            <a:r>
              <a:rPr lang="ko-KR" altLang="en-US" dirty="0"/>
              <a:t>리액트는 기본적으로 상태, 즉 State를 기반으로 UI를 만드는 라이브러리인데요, 그래서 데이터를 다루는 ES6 문법을 정말 많이 사용하게 됩니다.</a:t>
            </a:r>
          </a:p>
          <a:p>
            <a:r>
              <a:rPr lang="ko-KR" altLang="en-US" dirty="0"/>
              <a:t>오늘 이 문법들만 잘 이해하시면, 이런 코드가 훨씬 읽기 쉬워질 것입니다.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102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F7420-E364-D7B9-4F8B-E71460ADB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7F080F7-F224-DB55-15A7-596739FCA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A02655-FCF0-6D8E-0CBD-B059865ACD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리액트의 핵심 아이디어를 먼저 이해해보겠습니다.</a:t>
            </a:r>
          </a:p>
          <a:p>
            <a:r>
              <a:rPr lang="ko-KR" altLang="en-US" dirty="0"/>
              <a:t>리액트는 "상태를 기반으로 UI를 만드는 라이브러리"입니다. 이것이 무슨 뜻이냐 하면,</a:t>
            </a:r>
          </a:p>
          <a:p>
            <a:r>
              <a:rPr lang="ko-KR" altLang="en-US" dirty="0"/>
              <a:t>기존 방식에서는 상태가 변할 때마다 개발자가 직접 DOM을 찾아서 수정해줘야 했습니다. 어떤 부분을 바꿔야 하는지도 개발자가 일일이 관리해야 했습니다.</a:t>
            </a:r>
          </a:p>
          <a:p>
            <a:r>
              <a:rPr lang="ko-KR" altLang="en-US" dirty="0"/>
              <a:t>그런데 리액트에서는 개발자가 상태만 변경하면, 리액트가 알아서 UI를 계산하고 필요한 부분만 자동으로 업데이트해줍니다.</a:t>
            </a:r>
          </a:p>
          <a:p>
            <a:r>
              <a:rPr lang="ko-KR" altLang="en-US" dirty="0"/>
              <a:t>이 차이가 정말 중요한데요, 개발자의 역할이 "DOM을 직접 조작하는 것"에서 "상태를 관리하는 것"으로 바뀌는 것입니다.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E25821-F80B-EF05-64F8-96FCD158FE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6504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18984-2A56-FB7D-361E-55386E7F8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D13AE5-9F34-1434-8134-76DD5AC06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7F7900-1CFD-1CEB-FEBC-9A3934795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개념을 좀 더 시각적으로 비교해보겠습니다.</a:t>
            </a:r>
          </a:p>
          <a:p>
            <a:r>
              <a:rPr lang="ko-KR" altLang="en-US" dirty="0"/>
              <a:t>기존 방식에서는 화면에 무언가를 바꾸려면 개발자가 직접 DOM 요소를 찾아서 수정해야 했습니다. 일일이 getElementById 같은 것으로 찾아서 바꾸는 것이죠.</a:t>
            </a:r>
          </a:p>
          <a:p>
            <a:r>
              <a:rPr lang="ko-KR" altLang="en-US" dirty="0"/>
              <a:t>그런데 리액트에서는 그럴 필요가 없습니다. State만 변경하면 리액트가 알아서 UI를 바꿔줍니다.</a:t>
            </a:r>
          </a:p>
          <a:p>
            <a:r>
              <a:rPr lang="ko-KR" altLang="en-US" dirty="0"/>
              <a:t>예를 들어, 사용자 이름을 바꾸고 싶으면 그냥 상태값만 업데이트하면 됩니다. 화면은 리액트가 자동으로 다시 그려주기 때문입니다.</a:t>
            </a:r>
          </a:p>
          <a:p>
            <a:r>
              <a:rPr lang="ko-KR" altLang="en-US" dirty="0"/>
              <a:t>이렇게 되면 개발자는 "화면을 어떻게 바꿀까"보다 "데이터를 어떻게 관리할까"에 집중하게 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57982-23CE-5C43-FB7E-1A57F751A7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7440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C012E-7A0A-8F8A-B7D4-6314BC8E7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5981F-D477-1897-0188-3C8E6D68E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C92B31-E237-7529-F0AD-4FFD3F2F38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결론적으로, 리액트에서는 상태 데이터를 계속 관리해줘야 합니다.</a:t>
            </a:r>
          </a:p>
          <a:p>
            <a:r>
              <a:rPr lang="ko-KR" altLang="en-US" dirty="0"/>
              <a:t>그리고 이 상태 데이터는 대부분 객체나 배열 형태로 되어 있습니다. 사용자 정보, 할 일 목록, 게시글 목록 같은 것이죠.</a:t>
            </a:r>
          </a:p>
          <a:p>
            <a:r>
              <a:rPr lang="ko-KR" altLang="en-US" dirty="0"/>
              <a:t>이런 데이터를 쉽고 효율적으로 다루려면 ES6 문법이 정말 중요해지는 것입니다.</a:t>
            </a:r>
          </a:p>
          <a:p>
            <a:r>
              <a:rPr lang="ko-KR" altLang="en-US" dirty="0"/>
              <a:t>참고로 ES6는 2015년에 나온 자바스크립트의 대규모 업데이트 버전입니다. 현대 자바스크립트의 기반이 되는 문법이죠.</a:t>
            </a:r>
          </a:p>
          <a:p>
            <a:r>
              <a:rPr lang="ko-KR" altLang="en-US" dirty="0"/>
              <a:t>오늘은 그중에서도 리액트에서 꼭 필요한 4가지를 집중적으로 알아보겠습니다. 구조분해할당, 스프레드 연산자, 화살표 함수, 그리고 모듈 시스템입니다.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8CA066-1F39-90F1-063C-FAD09DC02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629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36D3-2305-A747-BD60-6C2F73401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D5855E-DFEE-F96B-416E-89D81F5B36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64C5B2-843B-EEE5-C74D-62EC4B3E2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 번째로 알아볼 것은 구조분해할당입니다.</a:t>
            </a:r>
          </a:p>
          <a:p>
            <a:r>
              <a:rPr lang="ko-KR" altLang="en-US" dirty="0"/>
              <a:t>구조분해할당은 객체의 key 값을 같은 이름의 변수로 쉽게 꺼내는 문법입니다.</a:t>
            </a:r>
          </a:p>
          <a:p>
            <a:r>
              <a:rPr lang="ko-KR" altLang="en-US" dirty="0"/>
              <a:t>예를 들어, user라는 객체에 name이라는 키가 있다면, 중괄호 안에 name을 적어주면 바로 변수로 꺼낼 수 있습니다.</a:t>
            </a:r>
          </a:p>
          <a:p>
            <a:r>
              <a:rPr lang="ko-KR" altLang="en-US" dirty="0"/>
              <a:t>여기서 중요한 것은, 반드시 객체의 키 이름과 동일한 이름을 써야 한다는 것입니다. user 객체에 name이라는 키가 있으니까 name으로 꺼내는 것은 되지만, id 같은 존재하지 않는 키로는 꺼낼 수 없습니다.</a:t>
            </a:r>
          </a:p>
          <a:p>
            <a:r>
              <a:rPr lang="ko-KR" altLang="en-US" dirty="0"/>
              <a:t>이 문법이 왜 중요하냐면, 리액트에서는 컴포넌트에 props를 전달할 때 이 구조분해할당을 정말 많이 사용하기 때문입니다.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CA484C-E1F1-825D-26B4-44F96CD0B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0656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7906B-92CA-50EF-DE56-D5F695F9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DDF50C-C47C-D812-0C98-D25C0B7B9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DFE0E8-EECC-8C2E-95C5-32ED02E3F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구조분해할당의 응용 버전들도 살펴보겠습니다.</a:t>
            </a:r>
          </a:p>
          <a:p>
            <a:r>
              <a:rPr lang="ko-KR" altLang="en-US" dirty="0"/>
              <a:t>먼저 배열 구조분해인데요, 배열에서도 비슷하게 값을 꺼낼 수 있습니다. 리액트의 useState가 바로 이 배열 구조분해 형태를 사용합니다. useState가 배열을 반환하기 때문에 대괄호로 값을 받는 것이죠.</a:t>
            </a:r>
          </a:p>
          <a:p>
            <a:r>
              <a:rPr lang="ko-KR" altLang="en-US" dirty="0"/>
              <a:t>그리고 이름 바꾸기도 가능합니다. 객체에서 꺼낸 값을 다른 이름의 변수에 저장할 수 있습니다. 예를 들어 user.name을 userName이라는 변수로 받을 수 있습니다.</a:t>
            </a:r>
          </a:p>
          <a:p>
            <a:r>
              <a:rPr lang="ko-KR" altLang="en-US" dirty="0"/>
              <a:t>마지막으로 기본값 넣기도 됩니다. 만약 객체에 해당 키의 값이 없으면 기본값을 지정해둘 수 있습니다. user.age가 없으면 기본값으로 20을 사용하는 식입니다.</a:t>
            </a:r>
          </a:p>
          <a:p>
            <a:r>
              <a:rPr lang="ko-KR" altLang="en-US" dirty="0"/>
              <a:t>이런 응용들을 알아두시면 리액트 코드를 읽을 때 훨씬 편해집니다.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4715A6-CC97-35E5-F801-4A63C0EC8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392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3A0EF-6003-8256-72A8-3C4C270D2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D34EFE2-0D4A-9380-DA61-E01BEFDB4C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E58874-45B0-BEA7-5B7D-4BA9D1134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번째는 스프레드 연산자입니다. 점 세 개로 객체나 배열을 펼치는 문법입니다.</a:t>
            </a:r>
          </a:p>
          <a:p>
            <a:r>
              <a:rPr lang="ko-KR" altLang="en-US" dirty="0"/>
              <a:t>배열에서는 기존 배열의 값들을 펼쳐서 새로운 배열을 만들 수 있습니다.</a:t>
            </a:r>
          </a:p>
          <a:p>
            <a:r>
              <a:rPr lang="ko-KR" altLang="en-US" dirty="0"/>
              <a:t>객체에서는 기존 객체를 복사하면서 일부 값만 바꾼 새로운 객체를 만들 수 있습니다.</a:t>
            </a:r>
          </a:p>
          <a:p>
            <a:r>
              <a:rPr lang="ko-KR" altLang="en-US" dirty="0"/>
              <a:t>이것이 리액트에서 왜 중요하냐면, 리액트는 상태를 직접 수정하지 않습니다. 기존 상태를 직접 바꾸는 것이 아니라, 새로운 객체를 만들어서 상태를 교체하는 방식입니다.</a:t>
            </a:r>
          </a:p>
          <a:p>
            <a:r>
              <a:rPr lang="ko-KR" altLang="en-US" dirty="0"/>
              <a:t>예를 들어 user.age를 26으로 바꾸고 싶다면, user.age = 26 이렇게 직접 수정하는 것이 아니라, 스프레드 연산자로 기존 user를 복사하고 age만 26으로 덮어쓴 새로운 객체를 만드는 것입니다.</a:t>
            </a:r>
          </a:p>
          <a:p>
            <a:r>
              <a:rPr lang="ko-KR" altLang="en-US" dirty="0"/>
              <a:t>이 불변성 개념은 리액트에서 정말 핵심적인 부분입니다.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F01327-F9AE-4A67-3712-E41A6E436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0680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ACEA7-2FBA-DAC4-E635-B3F576FB5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DC2169-DF88-23ED-6886-0457B11FA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265493-9CF4-7D5F-2E03-108EE1EC7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세 번째는 화살표 함수입니다.</a:t>
            </a:r>
          </a:p>
          <a:p>
            <a:r>
              <a:rPr lang="ko-KR" altLang="en-US" dirty="0"/>
              <a:t>기존의 function 키워드 대신 화살표 기호를 써서 함수를 더 짧게 작성할 수 있는 문법입니다.</a:t>
            </a:r>
          </a:p>
          <a:p>
            <a:r>
              <a:rPr lang="ko-KR" altLang="en-US" dirty="0"/>
              <a:t>얼핏 보면 단순히 작성 스타일만 바뀐 것 같아서 큰 차이가 없어 보일 수 있습니다.</a:t>
            </a:r>
          </a:p>
          <a:p>
            <a:r>
              <a:rPr lang="ko-KR" altLang="en-US" dirty="0"/>
              <a:t>하지만 리액트에서는 컴포넌트 안에서 이벤트 핸들러나 콜백 함수를 정말 많이 작성하게 됩니다. 한 컴포넌트 안에서 수십 번씩 함수를 작성할 수도 있기 때문입니다.</a:t>
            </a:r>
          </a:p>
          <a:p>
            <a:r>
              <a:rPr lang="ko-KR" altLang="en-US" dirty="0"/>
              <a:t>그때마다 function 키워드를 일일이 쓰는 것보다 화살표 함수로 간결하게 작성하는 것이 코드 가독성에 큰 도움이 됩니다.</a:t>
            </a:r>
          </a:p>
          <a:p>
            <a:r>
              <a:rPr lang="ko-KR" altLang="en-US" dirty="0"/>
              <a:t>리액트 예시를 보시면, 이벤트 핸들러나 map 안의 콜백에서 화살표 함수가 얼마나 자주 쓰이는지 확인하실 수 있습니다.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F7A0B-C75F-BD43-CAA8-0C659572B2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5947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E630C-E5EF-3D71-1873-7478EA0E4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D93079-6CBD-2F72-04F7-C3497DD4F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533F092-C305-8962-2D1D-370198CFF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네 번째는 모듈 시스템입니다.</a:t>
            </a:r>
          </a:p>
          <a:p>
            <a:r>
              <a:rPr lang="ko-KR" altLang="en-US" dirty="0"/>
              <a:t>모듈 시스템은 코드를 파일 단위로 나누고, 필요한 곳에서 가져다 쓰는 방식입니다.</a:t>
            </a:r>
          </a:p>
          <a:p>
            <a:r>
              <a:rPr lang="ko-KR" altLang="en-US" dirty="0"/>
              <a:t>만약 한 파일에 모든 기능을 다 넣으면 어떻게 되겠습니까? 파일이 커질수록 관리가 점점 어려워질 것입니다.</a:t>
            </a:r>
          </a:p>
          <a:p>
            <a:r>
              <a:rPr lang="ko-KR" altLang="en-US" dirty="0"/>
              <a:t>그래서 export와 import를 사용합니다. export는 이 파일의 기능을 다른 파일에서도 쓸 수 있게 내보내는 것이고, import는 다른 파일의 기능을 가져와서 쓰는 것입니다.</a:t>
            </a:r>
          </a:p>
          <a:p>
            <a:r>
              <a:rPr lang="ko-KR" altLang="en-US" dirty="0"/>
              <a:t>default export는 그 파일의 대표 기능을 내보낼 때 사용합니다.</a:t>
            </a:r>
          </a:p>
          <a:p>
            <a:r>
              <a:rPr lang="ko-KR" altLang="en-US" dirty="0"/>
              <a:t>리액트에서는 이 모듈 시스템이 기본입니다. 컴포넌트마다 별도 파일로 만들고, 필요한 곳에서 import해서 조립하는 방식으로 개발하기 때문입니다.</a:t>
            </a:r>
          </a:p>
          <a:p>
            <a:endParaRPr lang="ko-KR" altLang="en-US" dirty="0"/>
          </a:p>
          <a:p>
            <a:r>
              <a:rPr lang="ko-KR" altLang="en-US" dirty="0"/>
              <a:t>[참고 - 질문 대비] 혹시 "자바에서 </a:t>
            </a:r>
            <a:r>
              <a:rPr lang="ko-KR" altLang="en-US" dirty="0" err="1"/>
              <a:t>import</a:t>
            </a:r>
            <a:r>
              <a:rPr lang="ko-KR" altLang="en-US" dirty="0"/>
              <a:t> </a:t>
            </a:r>
            <a:r>
              <a:rPr lang="ko-KR" altLang="en-US" dirty="0" err="1"/>
              <a:t>java.util.List</a:t>
            </a:r>
            <a:r>
              <a:rPr lang="ko-KR" altLang="en-US" dirty="0"/>
              <a:t> 하는 것도 모듈 시스템 </a:t>
            </a:r>
            <a:r>
              <a:rPr lang="ko-KR" altLang="en-US" dirty="0" err="1"/>
              <a:t>아닌가요?"라는</a:t>
            </a:r>
            <a:r>
              <a:rPr lang="ko-KR" altLang="en-US" dirty="0"/>
              <a:t> 질문이 나올 수 있습니다.</a:t>
            </a:r>
          </a:p>
          <a:p>
            <a:r>
              <a:rPr lang="ko-KR" altLang="en-US" dirty="0"/>
              <a:t>자바의 </a:t>
            </a:r>
            <a:r>
              <a:rPr lang="ko-KR" altLang="en-US" dirty="0" err="1"/>
              <a:t>import는</a:t>
            </a:r>
            <a:r>
              <a:rPr lang="ko-KR" altLang="en-US" dirty="0"/>
              <a:t> </a:t>
            </a:r>
            <a:r>
              <a:rPr lang="ko-KR" altLang="en-US" dirty="0" err="1"/>
              <a:t>JDK에</a:t>
            </a:r>
            <a:r>
              <a:rPr lang="ko-KR" altLang="en-US" dirty="0"/>
              <a:t> 이미 포함된 클래스의 패키지 경로를 컴파일러에게 알려주는 것일 뿐, 코드를 실제로 가져오는 것이 아닙니다.</a:t>
            </a:r>
          </a:p>
          <a:p>
            <a:r>
              <a:rPr lang="ko-KR" altLang="en-US" dirty="0"/>
              <a:t>반면 자바스크립트의 </a:t>
            </a:r>
            <a:r>
              <a:rPr lang="ko-KR" altLang="en-US" dirty="0" err="1"/>
              <a:t>import</a:t>
            </a:r>
            <a:r>
              <a:rPr lang="ko-KR" altLang="en-US" dirty="0"/>
              <a:t>/</a:t>
            </a:r>
            <a:r>
              <a:rPr lang="ko-KR" altLang="en-US" dirty="0" err="1"/>
              <a:t>export는</a:t>
            </a:r>
            <a:r>
              <a:rPr lang="ko-KR" altLang="en-US" dirty="0"/>
              <a:t> 개발자가 직접 만든 코드를 파일 단위로 내보내고 가져오는 구조입니다. </a:t>
            </a:r>
            <a:r>
              <a:rPr lang="ko-KR" altLang="en-US" dirty="0" err="1"/>
              <a:t>export를</a:t>
            </a:r>
            <a:r>
              <a:rPr lang="ko-KR" altLang="en-US" dirty="0"/>
              <a:t> 하지 않으면 다른 파일에서 아예 접근이 불가능합니다.</a:t>
            </a:r>
          </a:p>
          <a:p>
            <a:r>
              <a:rPr lang="ko-KR" altLang="en-US" dirty="0"/>
              <a:t>즉, 같은 </a:t>
            </a:r>
            <a:r>
              <a:rPr lang="ko-KR" altLang="en-US" dirty="0" err="1"/>
              <a:t>import라는</a:t>
            </a:r>
            <a:r>
              <a:rPr lang="ko-KR" altLang="en-US" dirty="0"/>
              <a:t> 키워드를 쓰지만 개념 자체가 다르다고 설명하시면 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7F435D-4443-7FB6-BAE9-FDFAAD911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4369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DA2B-54E4-66BF-0806-0C7D4318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3E7CD40-7287-12CE-D78A-CBFDB1C73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B6F540-34E3-1C00-88FB-2CA7798230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리액트는 컴포넌트 기반 개발 방식을 사용합니다.</a:t>
            </a:r>
          </a:p>
          <a:p>
            <a:r>
              <a:rPr lang="ko-KR" altLang="en-US" dirty="0"/>
              <a:t>쉽게 말씀드리면 레고 블록처럼 UI를 작은 조각들로 나눠서 조립하는 것입니다.</a:t>
            </a:r>
          </a:p>
          <a:p>
            <a:r>
              <a:rPr lang="ko-KR" altLang="en-US" dirty="0"/>
              <a:t>Header, Sidebar, Card, Footer 같은 각각의 UI 단위를 별도의 파일로 만들고, 이것을 조합해서 하나의 페이지를 완성하는 것이죠.</a:t>
            </a:r>
          </a:p>
          <a:p>
            <a:r>
              <a:rPr lang="ko-KR" altLang="en-US" dirty="0"/>
              <a:t>오른쪽의 폴더 구조를 보시면, components 폴더에 각 컴포넌트 파일이 있고, pages 폴더에 페이지 파일이 있습니다.</a:t>
            </a:r>
          </a:p>
          <a:p>
            <a:r>
              <a:rPr lang="ko-KR" altLang="en-US" dirty="0"/>
              <a:t>App.jsx가 이 컴포넌트들을 조립하는 메인 파일이 되는 것입니다.</a:t>
            </a:r>
          </a:p>
          <a:p>
            <a:r>
              <a:rPr lang="ko-KR" altLang="en-US" dirty="0"/>
              <a:t>이런 구조 덕분에 코드 재사용도 쉽고, 유지보수도 훨씬 편해집니다.</a:t>
            </a:r>
          </a:p>
          <a:p>
            <a:r>
              <a:rPr lang="ko-KR" altLang="en-US" dirty="0"/>
              <a:t>앞서 배운 모듈 시스템의 export, import가 여기서 바로 활용되는 것입니다.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28D9C-F0E0-0249-5ED4-166A90F49C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39618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D5DAF-4E06-A6DD-9AA0-3A7054DC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C804E5-9C7D-242D-5F05-09F68C85DC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B1F6A8-9800-3B50-F8FF-C4FFECA07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자, 이제 처음에 봤던 그 어려워 보이던 코드를 다시 한번 보겠습니다.</a:t>
            </a:r>
          </a:p>
          <a:p>
            <a:r>
              <a:rPr lang="ko-KR" altLang="en-US" dirty="0"/>
              <a:t>구조분해할당, 스프레드 연산자, 화살표 함수, map... 이제 이 문법들이 무엇인지 아시겠습니까?</a:t>
            </a:r>
          </a:p>
          <a:p>
            <a:r>
              <a:rPr lang="ko-KR" altLang="en-US" dirty="0"/>
              <a:t>"그래도 아직 이해가 안 되는데요?" 하실 수도 있습니다. 괜찮습니다.</a:t>
            </a:r>
          </a:p>
          <a:p>
            <a:r>
              <a:rPr lang="ko-KR" altLang="en-US" dirty="0"/>
              <a:t>오늘 내용은 리액트를 이해하기 위한 기반을 다지는 것이었습니다. Props, JSX, 컴포넌트, Hooks 같은 리액트 고유 개념들은 앞으로 배우게 될 것입니다.</a:t>
            </a:r>
          </a:p>
          <a:p>
            <a:r>
              <a:rPr lang="ko-KR" altLang="en-US" dirty="0"/>
              <a:t>중요한 것은, 이후에 리액트를 배우면서 오늘 본 ES6 문법들을 정말 자주 만나게 된다는 것입니다.</a:t>
            </a:r>
          </a:p>
          <a:p>
            <a:r>
              <a:rPr lang="ko-KR" altLang="en-US" dirty="0"/>
              <a:t>그때 "아, 이거 그때 봤던 거다!" 하고 떠올리실 수 있다면, 오늘 발표의 목적은 충분히 달성한 것입니다.</a:t>
            </a:r>
          </a:p>
          <a:p>
            <a:r>
              <a:rPr lang="ko-KR" altLang="en-US" dirty="0"/>
              <a:t>감사합니다.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FA6AE5-25BC-997E-3B11-73EC157E4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78C448-4B01-45DC-A693-05AA9EC75D2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5948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18472-AF16-F8A0-4805-A4CAE79B09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602FB4-9F47-6C74-3D89-B8C032282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2911AC-8AF0-7C27-E4E4-844AE564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51200B-0567-840B-C9A2-566E4164C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B2F9BB-7F15-D1C6-E7A2-8AC13870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29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975A3-0167-E200-9602-0A3C3AC8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37D266-4D75-8CE1-3FBB-AA3BAC3ED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8F0C40-F8FE-6C9A-118E-F8D1C937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73C09B-6F70-A7EC-37ED-499036E3A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6EE144-1C9C-803E-25DA-93AF6F13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800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E98B8-FB79-13B1-ED78-701B6D7E4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99C38C-D49F-75D7-C89C-7ACC973BD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18CB0-D617-D28D-24A4-35DA1B9E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59B1C-E96F-EC92-2C2A-6E7F6F80C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0AE1489-4FB2-AD55-FD8E-F5D379EC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14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2DCC8E-3AFF-1E82-9559-60AC9F78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72E9FD-2A38-7898-A6C3-A5C54FA5A0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0F4D1-4430-7572-76C5-52AEC99D3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5A4AB-D3B6-238F-C4B1-64F516FE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F0E28F-1F85-35D6-8961-154AD16B7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FA8892-921F-7359-EBE4-F708418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6988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9FF6B-74C8-DB9A-383C-23D2036FA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C7DB05-371D-CF86-7530-57D4633DD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53B3C3-36CD-402D-E474-D488ED665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EFA4E50-5F9F-8141-CE41-BF87EB5DB5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6E5AE84-3175-40E0-E3AD-57E024F3E1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190A46-797A-E775-734F-D15AC8624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CF048D-2E2A-9166-88AA-629AF143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C8CF8E5-820F-4931-16D9-68D7D5A54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5618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74144-A625-BE0C-CB04-735C5CC51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A5CA6B-9447-CCB1-689C-9506FD26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5C0E809-0310-A352-54E7-19AF562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00D22D-2E7C-3F63-BEEC-2DFD87662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824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618E24-06E5-111B-B5EC-48097D1DA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BB6F927-3955-41AC-313F-D0F8C90E7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D6110-3621-265E-15EA-461CB8B81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2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46F501-4DF1-C12F-D006-B17E16ED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775C19-2B52-CDAB-0F94-F1EE8F5B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559140-5D4E-2A27-BBC4-6D5B954BD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67638-E308-2B66-E8FD-AE5E05E54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2751FA-2DD8-8F5C-3774-E53D574A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07F9E5-3BDE-D906-8186-7D0F1554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1855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D5054-29D7-9B96-9B5B-3ECCA577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4F5CC0-2DB7-64FC-BC21-82C5D380E1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BF9D10-048C-A0C3-6A86-4B0DD507B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9AC9CE-7330-2C54-16D3-5EFF18C3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B653EF-4394-F517-CA69-AA40FD905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5125F5-FFCA-BB24-0B6B-B7C4CF574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624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9A5DE6-13DB-BFFC-D5E9-C677513E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2CA0E3-B506-ED77-E439-7CB3EB1C06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339AA9-F94D-9FEE-C8C6-92389CAD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12683F-C4E8-728F-A285-1247727E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536B1-2672-9038-A3D6-B91C7D396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27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09BABD-F2B6-850E-F2C2-09B1806FDE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89B0F5-9265-DB1F-27FC-894BFDB37E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09FB03-01AE-41D7-FE68-2FC8041BB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C3B847-BBCE-8F43-735D-80E7E63B0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3B74A5-B5C0-A070-17AA-A3E05C95F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6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243CD2-72CE-25F0-C4A8-1BABCD900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D9DC67-6B9E-1F1E-1FAF-BADB47FF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4BA33-A704-6128-7D5A-9414C5901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F85DFA-902D-4C80-9A31-E7AC8CC5CB1F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976430-BCA4-8D40-3E3E-E3A38DEDB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B2E9E-0DFD-1E57-0900-AE69B65B8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66550D-21A4-4798-A82C-40C5DA92D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611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33E3AC-0C06-ED5F-0067-EA8E1257F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프론트엔드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트랙</a:t>
            </a:r>
            <a:b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5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주차 학습 발표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7A7C6D-0A12-6447-FD99-5201153C3061}"/>
              </a:ext>
            </a:extLst>
          </p:cNvPr>
          <p:cNvSpPr txBox="1"/>
          <p:nvPr/>
        </p:nvSpPr>
        <p:spPr>
          <a:xfrm>
            <a:off x="2728451" y="3755865"/>
            <a:ext cx="67350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리액트</a:t>
            </a:r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맛보기 전에</a:t>
            </a:r>
            <a:b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(ES6</a:t>
            </a:r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핵심 기능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lang="ko-KR" altLang="en-US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문법 알아보기</a:t>
            </a:r>
            <a:r>
              <a:rPr lang="en-US" altLang="ko-KR" sz="2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lang="ko-KR" alt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3B198D-F65D-2703-60F4-089041DB98A3}"/>
              </a:ext>
            </a:extLst>
          </p:cNvPr>
          <p:cNvSpPr txBox="1"/>
          <p:nvPr/>
        </p:nvSpPr>
        <p:spPr>
          <a:xfrm>
            <a:off x="5550309" y="57946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sz="2800" b="1" dirty="0"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발표자 </a:t>
            </a:r>
            <a:r>
              <a:rPr lang="en-US" altLang="ko-KR" sz="2800" b="1" dirty="0"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 </a:t>
            </a:r>
            <a:r>
              <a:rPr lang="ko-KR" altLang="en-US" sz="2800" b="1" dirty="0">
                <a:effectLst/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이효빈</a:t>
            </a:r>
            <a:endParaRPr lang="ko-KR" altLang="en-US" sz="2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328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302019-586C-E315-4018-4F177B00EB0C}"/>
              </a:ext>
            </a:extLst>
          </p:cNvPr>
          <p:cNvSpPr txBox="1"/>
          <p:nvPr/>
        </p:nvSpPr>
        <p:spPr>
          <a:xfrm>
            <a:off x="511278" y="481781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 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코드는 왜 이렇게 어렵게 보일까</a:t>
            </a:r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...</a:t>
            </a:r>
            <a:endParaRPr lang="ko-KR" altLang="en-US" sz="3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29654-CA71-CEEC-94CB-FE8119A80622}"/>
              </a:ext>
            </a:extLst>
          </p:cNvPr>
          <p:cNvSpPr txBox="1"/>
          <p:nvPr/>
        </p:nvSpPr>
        <p:spPr>
          <a:xfrm>
            <a:off x="685802" y="2073844"/>
            <a:ext cx="5410198" cy="24972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endParaRPr lang="en-US" altLang="ko-KR" b="0" dirty="0">
              <a:solidFill>
                <a:srgbClr val="FF7B7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function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D2A8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Profile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}) 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dirty="0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en-US" altLang="ko-KR" b="0" dirty="0" err="1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.todos.</a:t>
            </a:r>
            <a:r>
              <a:rPr lang="en-US" altLang="ko-KR" b="0" dirty="0" err="1">
                <a:solidFill>
                  <a:srgbClr val="D2A8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=&gt;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dirty="0" err="1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TodoItem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.id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r>
              <a:rPr lang="en-US" altLang="ko-KR" b="0" dirty="0" err="1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))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dirty="0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);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0F1CA8-C132-4357-80AA-57C5826AF717}"/>
              </a:ext>
            </a:extLst>
          </p:cNvPr>
          <p:cNvSpPr txBox="1"/>
          <p:nvPr/>
        </p:nvSpPr>
        <p:spPr>
          <a:xfrm>
            <a:off x="6623615" y="2704215"/>
            <a:ext cx="86202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왜 </a:t>
            </a:r>
            <a:r>
              <a:rPr lang="en-US" altLang="ko-KR" sz="2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 </a:t>
            </a:r>
            <a:r>
              <a:rPr lang="ko-KR" altLang="en-US" sz="2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코드는</a:t>
            </a:r>
            <a:endParaRPr lang="en-US" altLang="ko-KR" sz="2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sz="2400" dirty="0">
                <a:latin typeface="D2"/>
                <a:ea typeface="Pretendard Variable" panose="02000003000000020004" pitchFamily="2" charset="-127"/>
                <a:cs typeface="Pretendard Variable" panose="02000003000000020004" pitchFamily="2" charset="-127"/>
              </a:rPr>
              <a:t>{}, ..., =&gt;, map()</a:t>
            </a:r>
            <a:r>
              <a:rPr lang="ko-KR" altLang="en-US" sz="2400" dirty="0">
                <a:latin typeface="D2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2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같은 게 엄청 많을까</a:t>
            </a:r>
            <a:r>
              <a:rPr lang="en-US" altLang="ko-KR" sz="2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?</a:t>
            </a:r>
            <a:endParaRPr lang="ko-KR" altLang="en-US" sz="2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9C3EF1-D759-2278-B03D-D05133704BB9}"/>
              </a:ext>
            </a:extLst>
          </p:cNvPr>
          <p:cNvSpPr txBox="1"/>
          <p:nvPr/>
        </p:nvSpPr>
        <p:spPr>
          <a:xfrm>
            <a:off x="958770" y="5516863"/>
            <a:ext cx="102744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3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는 “</a:t>
            </a:r>
            <a:r>
              <a:rPr lang="ko-KR" altLang="en-US" sz="3200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lang="en-US" altLang="ko-KR" sz="3200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</a:t>
            </a:r>
            <a:r>
              <a:rPr lang="ko-KR" altLang="en-US" sz="3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기반으로 </a:t>
            </a:r>
            <a:r>
              <a:rPr lang="en-US" altLang="ko-KR" sz="3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sz="32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만드는 라이브러리”</a:t>
            </a:r>
          </a:p>
        </p:txBody>
      </p:sp>
    </p:spTree>
    <p:extLst>
      <p:ext uri="{BB962C8B-B14F-4D97-AF65-F5344CB8AC3E}">
        <p14:creationId xmlns:p14="http://schemas.microsoft.com/office/powerpoint/2010/main" val="3797101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5844F-597B-9AA9-A6EA-DA26764A9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D71A7B-4A8F-6C88-2B45-961EAFBC54FB}"/>
              </a:ext>
            </a:extLst>
          </p:cNvPr>
          <p:cNvSpPr txBox="1"/>
          <p:nvPr/>
        </p:nvSpPr>
        <p:spPr>
          <a:xfrm>
            <a:off x="511278" y="481781"/>
            <a:ext cx="4434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의 핵심 아이디어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6071E-B735-056B-DAAF-33232F8473CA}"/>
              </a:ext>
            </a:extLst>
          </p:cNvPr>
          <p:cNvSpPr txBox="1"/>
          <p:nvPr/>
        </p:nvSpPr>
        <p:spPr>
          <a:xfrm>
            <a:off x="464978" y="1151261"/>
            <a:ext cx="5709693" cy="376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는 “</a:t>
            </a:r>
            <a:r>
              <a:rPr lang="ko-KR" altLang="en-US" sz="1800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lang="en-US" altLang="ko-KR" sz="1800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기반으로 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만드는 라이브러리”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5265B0-89CD-6D4F-218C-834DA14DFC60}"/>
              </a:ext>
            </a:extLst>
          </p:cNvPr>
          <p:cNvSpPr txBox="1"/>
          <p:nvPr/>
        </p:nvSpPr>
        <p:spPr>
          <a:xfrm>
            <a:off x="1387634" y="3064958"/>
            <a:ext cx="318709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 변화 발생</a:t>
            </a:r>
          </a:p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↓</a:t>
            </a:r>
          </a:p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개발자가 직접 </a:t>
            </a:r>
            <a: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DOM </a:t>
            </a:r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수정</a:t>
            </a:r>
          </a:p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↓</a:t>
            </a:r>
          </a:p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어떤 부분을 바꿀지 직접 관리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4A35F7-F6A6-F4DF-2F2E-398712E73BFD}"/>
              </a:ext>
            </a:extLst>
          </p:cNvPr>
          <p:cNvSpPr txBox="1"/>
          <p:nvPr/>
        </p:nvSpPr>
        <p:spPr>
          <a:xfrm>
            <a:off x="7157091" y="3064958"/>
            <a:ext cx="35558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</a:t>
            </a:r>
            <a:b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↓</a:t>
            </a:r>
            <a:b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 </a:t>
            </a:r>
            <a:r>
              <a:rPr lang="en-US" altLang="ko-KR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 </a:t>
            </a:r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계산</a:t>
            </a:r>
            <a:b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↓</a:t>
            </a:r>
            <a:b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ko-KR" altLang="en-US" sz="20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필요한 부분 자동 업데이트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57B676-E31D-FDE2-ECC0-52301FAA6C1E}"/>
              </a:ext>
            </a:extLst>
          </p:cNvPr>
          <p:cNvSpPr txBox="1"/>
          <p:nvPr/>
        </p:nvSpPr>
        <p:spPr>
          <a:xfrm>
            <a:off x="1362889" y="1952209"/>
            <a:ext cx="3380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–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개발자가 직접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관리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BFF24-196F-2980-3BD1-224EEA592324}"/>
              </a:ext>
            </a:extLst>
          </p:cNvPr>
          <p:cNvSpPr txBox="1"/>
          <p:nvPr/>
        </p:nvSpPr>
        <p:spPr>
          <a:xfrm>
            <a:off x="7390563" y="1948296"/>
            <a:ext cx="2908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 -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 기반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</a:t>
            </a:r>
          </a:p>
        </p:txBody>
      </p:sp>
    </p:spTree>
    <p:extLst>
      <p:ext uri="{BB962C8B-B14F-4D97-AF65-F5344CB8AC3E}">
        <p14:creationId xmlns:p14="http://schemas.microsoft.com/office/powerpoint/2010/main" val="181240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AD45A-27A3-2E4A-999A-75B13F68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87984E-FA43-DCF2-ABFC-81E3705F1081}"/>
              </a:ext>
            </a:extLst>
          </p:cNvPr>
          <p:cNvSpPr txBox="1"/>
          <p:nvPr/>
        </p:nvSpPr>
        <p:spPr>
          <a:xfrm>
            <a:off x="511278" y="481781"/>
            <a:ext cx="4434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의 핵심 아이디어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934B1A-197B-168D-89A9-4863A4A8128E}"/>
              </a:ext>
            </a:extLst>
          </p:cNvPr>
          <p:cNvSpPr txBox="1"/>
          <p:nvPr/>
        </p:nvSpPr>
        <p:spPr>
          <a:xfrm>
            <a:off x="464978" y="1151261"/>
            <a:ext cx="5709693" cy="376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는 “</a:t>
            </a:r>
            <a:r>
              <a:rPr lang="ko-KR" altLang="en-US" sz="1800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</a:t>
            </a:r>
            <a:r>
              <a:rPr lang="en-US" altLang="ko-KR" sz="1800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기반으로 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만드는 라이브러리”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06D3E2-9C02-1030-19AD-3CB42AB9D80D}"/>
              </a:ext>
            </a:extLst>
          </p:cNvPr>
          <p:cNvSpPr txBox="1"/>
          <p:nvPr/>
        </p:nvSpPr>
        <p:spPr>
          <a:xfrm>
            <a:off x="1362889" y="1952209"/>
            <a:ext cx="33805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–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개발자가 직접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관리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8D5E56-5917-1A11-5A2F-A420188617C1}"/>
              </a:ext>
            </a:extLst>
          </p:cNvPr>
          <p:cNvSpPr txBox="1"/>
          <p:nvPr/>
        </p:nvSpPr>
        <p:spPr>
          <a:xfrm>
            <a:off x="7390563" y="1948296"/>
            <a:ext cx="29082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 -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상태 기반 </a:t>
            </a:r>
            <a:r>
              <a:rPr lang="en-US" altLang="ko-KR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 </a:t>
            </a:r>
            <a:r>
              <a:rPr lang="ko-KR" altLang="en-US" sz="20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E4BEB2-74A3-7708-F8BE-8702AE9E6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412" y="2559873"/>
            <a:ext cx="3794093" cy="38163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7530152-E35C-C877-9569-C43EDBA639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077" y="2559873"/>
            <a:ext cx="4737252" cy="3188042"/>
          </a:xfrm>
          <a:prstGeom prst="rect">
            <a:avLst/>
          </a:prstGeom>
        </p:spPr>
      </p:pic>
      <p:sp>
        <p:nvSpPr>
          <p:cNvPr id="14" name="액자 13">
            <a:extLst>
              <a:ext uri="{FF2B5EF4-FFF2-40B4-BE49-F238E27FC236}">
                <a16:creationId xmlns:a16="http://schemas.microsoft.com/office/drawing/2014/main" id="{CD1E7119-4CF1-E507-05D0-F21495E04249}"/>
              </a:ext>
            </a:extLst>
          </p:cNvPr>
          <p:cNvSpPr/>
          <p:nvPr/>
        </p:nvSpPr>
        <p:spPr>
          <a:xfrm>
            <a:off x="1151412" y="5589243"/>
            <a:ext cx="2743929" cy="475891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3FF39-5926-69AE-12BE-2F2C75555771}"/>
              </a:ext>
            </a:extLst>
          </p:cNvPr>
          <p:cNvSpPr txBox="1"/>
          <p:nvPr/>
        </p:nvSpPr>
        <p:spPr>
          <a:xfrm>
            <a:off x="3895341" y="5642522"/>
            <a:ext cx="1845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직접 </a:t>
            </a:r>
            <a:r>
              <a:rPr lang="en-US" altLang="ko-KR" b="1" dirty="0">
                <a:solidFill>
                  <a:srgbClr val="FF0000"/>
                </a:solidFill>
              </a:rPr>
              <a:t>DOM </a:t>
            </a:r>
            <a:r>
              <a:rPr lang="ko-KR" altLang="en-US" b="1" dirty="0">
                <a:solidFill>
                  <a:srgbClr val="FF0000"/>
                </a:solidFill>
              </a:rPr>
              <a:t>수정</a:t>
            </a:r>
          </a:p>
        </p:txBody>
      </p:sp>
      <p:sp>
        <p:nvSpPr>
          <p:cNvPr id="18" name="액자 17">
            <a:extLst>
              <a:ext uri="{FF2B5EF4-FFF2-40B4-BE49-F238E27FC236}">
                <a16:creationId xmlns:a16="http://schemas.microsoft.com/office/drawing/2014/main" id="{C6D4E986-77B6-4975-2501-B646AD85785D}"/>
              </a:ext>
            </a:extLst>
          </p:cNvPr>
          <p:cNvSpPr/>
          <p:nvPr/>
        </p:nvSpPr>
        <p:spPr>
          <a:xfrm>
            <a:off x="8997783" y="4239419"/>
            <a:ext cx="1945640" cy="281781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BFA94D-F931-A6E6-36E9-8406A15E3BA9}"/>
              </a:ext>
            </a:extLst>
          </p:cNvPr>
          <p:cNvSpPr txBox="1"/>
          <p:nvPr/>
        </p:nvSpPr>
        <p:spPr>
          <a:xfrm>
            <a:off x="7974933" y="4811392"/>
            <a:ext cx="30828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개발자가 직접 </a:t>
            </a:r>
            <a:r>
              <a:rPr lang="en-US" altLang="ko-KR" b="1" dirty="0">
                <a:solidFill>
                  <a:srgbClr val="FF0000"/>
                </a:solidFill>
              </a:rPr>
              <a:t>DOM </a:t>
            </a:r>
            <a:r>
              <a:rPr lang="ko-KR" altLang="en-US" b="1" dirty="0">
                <a:solidFill>
                  <a:srgbClr val="FF0000"/>
                </a:solidFill>
              </a:rPr>
              <a:t>수정 </a:t>
            </a:r>
            <a:r>
              <a:rPr lang="en-US" altLang="ko-KR" b="1" dirty="0">
                <a:solidFill>
                  <a:srgbClr val="FF0000"/>
                </a:solidFill>
              </a:rPr>
              <a:t>X</a:t>
            </a:r>
            <a:br>
              <a:rPr lang="en-US" altLang="ko-KR" b="1" dirty="0">
                <a:solidFill>
                  <a:srgbClr val="FF0000"/>
                </a:solidFill>
              </a:rPr>
            </a:br>
            <a:r>
              <a:rPr lang="ko-KR" altLang="en-US" b="1" dirty="0">
                <a:solidFill>
                  <a:srgbClr val="FF0000"/>
                </a:solidFill>
              </a:rPr>
              <a:t>상태</a:t>
            </a:r>
            <a:r>
              <a:rPr lang="en-US" altLang="ko-KR" b="1" dirty="0">
                <a:solidFill>
                  <a:srgbClr val="FF0000"/>
                </a:solidFill>
              </a:rPr>
              <a:t>(State)</a:t>
            </a:r>
            <a:r>
              <a:rPr lang="ko-KR" altLang="en-US" b="1" dirty="0">
                <a:solidFill>
                  <a:srgbClr val="FF0000"/>
                </a:solidFill>
              </a:rPr>
              <a:t>만 변경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235B5F-6189-41B7-3F7D-88FA5B58BB1A}"/>
              </a:ext>
            </a:extLst>
          </p:cNvPr>
          <p:cNvSpPr txBox="1"/>
          <p:nvPr/>
        </p:nvSpPr>
        <p:spPr>
          <a:xfrm>
            <a:off x="6350270" y="5959382"/>
            <a:ext cx="4988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 State</a:t>
            </a:r>
            <a: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만 수정해도 </a:t>
            </a:r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 알아서 </a:t>
            </a:r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바꿔줘요</a:t>
            </a:r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</a:t>
            </a:r>
            <a:endParaRPr lang="ko-KR" altLang="en-US" b="1" dirty="0">
              <a:solidFill>
                <a:srgbClr val="0070C0"/>
              </a:solidFill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330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2C26-73C9-AE8C-4174-FC98BBAFE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670F90-C671-3582-055E-A324B6C3F710}"/>
              </a:ext>
            </a:extLst>
          </p:cNvPr>
          <p:cNvSpPr txBox="1"/>
          <p:nvPr/>
        </p:nvSpPr>
        <p:spPr>
          <a:xfrm>
            <a:off x="511278" y="481781"/>
            <a:ext cx="4434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의 핵심 아이디어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569A1B-54D9-3271-0A08-465A66B8FED2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즉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는 계속해서 상태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 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데이터를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관리해줘야 한다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150584-67E6-A1CA-AF24-5E0926F88545}"/>
              </a:ext>
            </a:extLst>
          </p:cNvPr>
          <p:cNvSpPr txBox="1"/>
          <p:nvPr/>
        </p:nvSpPr>
        <p:spPr>
          <a:xfrm>
            <a:off x="589280" y="19882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객체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배열 데이터를 자주 다루게 된다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7D818F-243C-BCF4-638B-26C327CECECD}"/>
              </a:ext>
            </a:extLst>
          </p:cNvPr>
          <p:cNvSpPr txBox="1"/>
          <p:nvPr/>
        </p:nvSpPr>
        <p:spPr>
          <a:xfrm>
            <a:off x="589280" y="247396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 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데이터를 쉽게 다루는 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ES6 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문법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기능이 중요해짐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EEE33-5812-93EF-8785-4CA14F68CD9F}"/>
              </a:ext>
            </a:extLst>
          </p:cNvPr>
          <p:cNvSpPr txBox="1"/>
          <p:nvPr/>
        </p:nvSpPr>
        <p:spPr>
          <a:xfrm>
            <a:off x="812800" y="2947999"/>
            <a:ext cx="3281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(ES6 : </a:t>
            </a:r>
            <a:r>
              <a:rPr lang="ko-KR" altLang="en-US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자바스크립트 대규모 업데이트 버전</a:t>
            </a:r>
            <a:r>
              <a:rPr lang="en-US" altLang="ko-KR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lang="ko-KR" alt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C798A2B-C49C-5459-8787-041F42E31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7082" y="2145526"/>
            <a:ext cx="5524358" cy="4300040"/>
          </a:xfrm>
          <a:prstGeom prst="rect">
            <a:avLst/>
          </a:prstGeom>
        </p:spPr>
      </p:pic>
      <p:sp>
        <p:nvSpPr>
          <p:cNvPr id="23" name="액자 22">
            <a:extLst>
              <a:ext uri="{FF2B5EF4-FFF2-40B4-BE49-F238E27FC236}">
                <a16:creationId xmlns:a16="http://schemas.microsoft.com/office/drawing/2014/main" id="{6A0A9EFB-F261-3B54-19D8-D3F396A070A4}"/>
              </a:ext>
            </a:extLst>
          </p:cNvPr>
          <p:cNvSpPr/>
          <p:nvPr/>
        </p:nvSpPr>
        <p:spPr>
          <a:xfrm>
            <a:off x="5894466" y="3607121"/>
            <a:ext cx="1297147" cy="1376850"/>
          </a:xfrm>
          <a:prstGeom prst="frame">
            <a:avLst>
              <a:gd name="adj1" fmla="val 378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액자 23">
            <a:extLst>
              <a:ext uri="{FF2B5EF4-FFF2-40B4-BE49-F238E27FC236}">
                <a16:creationId xmlns:a16="http://schemas.microsoft.com/office/drawing/2014/main" id="{8882C7CA-77A9-2DE6-ED03-D8B121B96A46}"/>
              </a:ext>
            </a:extLst>
          </p:cNvPr>
          <p:cNvSpPr/>
          <p:nvPr/>
        </p:nvSpPr>
        <p:spPr>
          <a:xfrm>
            <a:off x="5976762" y="5943934"/>
            <a:ext cx="1032988" cy="420671"/>
          </a:xfrm>
          <a:prstGeom prst="frame">
            <a:avLst>
              <a:gd name="adj1" fmla="val 828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0B72A2-E7CD-8444-469E-EC847355ECA0}"/>
              </a:ext>
            </a:extLst>
          </p:cNvPr>
          <p:cNvSpPr txBox="1"/>
          <p:nvPr/>
        </p:nvSpPr>
        <p:spPr>
          <a:xfrm>
            <a:off x="1898640" y="5146531"/>
            <a:ext cx="3770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rgbClr val="FF0000"/>
                </a:solidFill>
              </a:rPr>
              <a:t>못해도 이 </a:t>
            </a:r>
            <a:r>
              <a:rPr lang="en-US" altLang="ko-KR" sz="2000" b="1" dirty="0">
                <a:solidFill>
                  <a:srgbClr val="FF0000"/>
                </a:solidFill>
              </a:rPr>
              <a:t>4</a:t>
            </a:r>
            <a:r>
              <a:rPr lang="ko-KR" altLang="en-US" sz="2000" b="1" dirty="0">
                <a:solidFill>
                  <a:srgbClr val="FF0000"/>
                </a:solidFill>
              </a:rPr>
              <a:t>개는 꼭 알고 있자</a:t>
            </a:r>
            <a:r>
              <a:rPr lang="en-US" altLang="ko-KR" sz="2000" b="1" dirty="0">
                <a:solidFill>
                  <a:srgbClr val="FF0000"/>
                </a:solidFill>
              </a:rPr>
              <a:t>!!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025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C3FB2-5922-7200-8E30-FD095645A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0D512F-4D11-FB6B-1447-FF7A298E55DD}"/>
              </a:ext>
            </a:extLst>
          </p:cNvPr>
          <p:cNvSpPr txBox="1"/>
          <p:nvPr/>
        </p:nvSpPr>
        <p:spPr>
          <a:xfrm>
            <a:off x="511278" y="481781"/>
            <a:ext cx="25795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구조분해할당</a:t>
            </a:r>
            <a:endParaRPr lang="ko-KR" altLang="en-US" sz="3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597A24-6645-AE01-8628-EADEA6152BB2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객체의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key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값을 같은 이름의 변수로 쉽게 꺼내는 문법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37E5DF31-ABAD-1DAC-77F9-F7E9ACE91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125" y="2169079"/>
            <a:ext cx="3146275" cy="3572463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B68E2388-9100-C8A4-B4CC-369DFAE631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7162" y="2163999"/>
            <a:ext cx="3282682" cy="2003211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F1572E3-6FA2-3824-092D-376EE7659D38}"/>
              </a:ext>
            </a:extLst>
          </p:cNvPr>
          <p:cNvSpPr txBox="1"/>
          <p:nvPr/>
        </p:nvSpPr>
        <p:spPr>
          <a:xfrm>
            <a:off x="6766560" y="4316766"/>
            <a:ext cx="41562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user.name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값을 꺼내서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name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변수에 저장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b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“name”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 아니라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“id”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로는 안된다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 user.id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라는 키는 없으니까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 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49" name="액자 48">
            <a:extLst>
              <a:ext uri="{FF2B5EF4-FFF2-40B4-BE49-F238E27FC236}">
                <a16:creationId xmlns:a16="http://schemas.microsoft.com/office/drawing/2014/main" id="{5787C060-62B5-0FF7-5E80-9D2884120F03}"/>
              </a:ext>
            </a:extLst>
          </p:cNvPr>
          <p:cNvSpPr/>
          <p:nvPr/>
        </p:nvSpPr>
        <p:spPr>
          <a:xfrm>
            <a:off x="1644164" y="4802605"/>
            <a:ext cx="3014195" cy="822854"/>
          </a:xfrm>
          <a:prstGeom prst="frame">
            <a:avLst>
              <a:gd name="adj1" fmla="val 378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2007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2D806-EBEB-2087-D487-541C82D95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4C9C15-6E84-44E6-349E-5FAAD0EDE8CF}"/>
              </a:ext>
            </a:extLst>
          </p:cNvPr>
          <p:cNvSpPr txBox="1"/>
          <p:nvPr/>
        </p:nvSpPr>
        <p:spPr>
          <a:xfrm>
            <a:off x="511278" y="481781"/>
            <a:ext cx="37994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구조분해할당 </a:t>
            </a:r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 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응용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0EB80-B52A-EBEC-7EB2-FC6AFF044137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객체의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key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값을 같은 이름의 변수로 쉽게 꺼내는 문법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09D7793-6977-B27F-DB60-4D4F734F42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60" t="21598"/>
          <a:stretch>
            <a:fillRect/>
          </a:stretch>
        </p:blipFill>
        <p:spPr>
          <a:xfrm>
            <a:off x="616720" y="2987040"/>
            <a:ext cx="3162801" cy="230580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6CDC9A1-DDF7-8DCB-7C60-C25F60DCAB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94" t="24365" b="-16"/>
          <a:stretch>
            <a:fillRect/>
          </a:stretch>
        </p:blipFill>
        <p:spPr>
          <a:xfrm>
            <a:off x="4470399" y="3068320"/>
            <a:ext cx="2850599" cy="222452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E40A525-6C0F-2564-C3A5-F1343EAE2E02}"/>
              </a:ext>
            </a:extLst>
          </p:cNvPr>
          <p:cNvSpPr txBox="1"/>
          <p:nvPr/>
        </p:nvSpPr>
        <p:spPr>
          <a:xfrm>
            <a:off x="8704996" y="1981387"/>
            <a:ext cx="2606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배열 구조분해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DCCC87-9ACD-4357-3A7D-C03635DEB355}"/>
              </a:ext>
            </a:extLst>
          </p:cNvPr>
          <p:cNvSpPr txBox="1"/>
          <p:nvPr/>
        </p:nvSpPr>
        <p:spPr>
          <a:xfrm>
            <a:off x="865240" y="5396021"/>
            <a:ext cx="26517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user.name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값을 꺼내서</a:t>
            </a:r>
            <a:b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userName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변수에 저장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632BA97-A9C5-843B-A78F-F4320C10E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6673" y="2513279"/>
            <a:ext cx="3438607" cy="142407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C3727765-622B-06C9-13D7-02D8FE4082E5}"/>
              </a:ext>
            </a:extLst>
          </p:cNvPr>
          <p:cNvSpPr txBox="1"/>
          <p:nvPr/>
        </p:nvSpPr>
        <p:spPr>
          <a:xfrm>
            <a:off x="4731418" y="5396020"/>
            <a:ext cx="26067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user.age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값이 없으면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기본값으로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20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을 사용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15F91F-3B21-08DB-1DDB-3238C1A02E20}"/>
              </a:ext>
            </a:extLst>
          </p:cNvPr>
          <p:cNvSpPr txBox="1"/>
          <p:nvPr/>
        </p:nvSpPr>
        <p:spPr>
          <a:xfrm>
            <a:off x="4714239" y="2532070"/>
            <a:ext cx="2606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기본값 넣기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7D6084-4937-6C63-AD99-D8B9CADBF859}"/>
              </a:ext>
            </a:extLst>
          </p:cNvPr>
          <p:cNvSpPr txBox="1"/>
          <p:nvPr/>
        </p:nvSpPr>
        <p:spPr>
          <a:xfrm>
            <a:off x="1006017" y="2513279"/>
            <a:ext cx="26067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이름 바꾸기</a:t>
            </a: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EB7206C7-61F9-4BF0-49E6-D7D166AF8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1433" y="4360227"/>
            <a:ext cx="3067478" cy="77163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74B6B5C-37D4-03EC-E427-7CACEBCCD74C}"/>
              </a:ext>
            </a:extLst>
          </p:cNvPr>
          <p:cNvSpPr txBox="1"/>
          <p:nvPr/>
        </p:nvSpPr>
        <p:spPr>
          <a:xfrm>
            <a:off x="8012651" y="5254907"/>
            <a:ext cx="38361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리액트에선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위와 같은 형태로 자주 사용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 (</a:t>
            </a:r>
            <a:r>
              <a:rPr lang="en-US" altLang="ko-KR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useState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(0)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가 배열 형태로 반환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9999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1B1E8-EB50-D728-BFB8-A0947741F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B8B75E-7B49-61DE-BDE5-3FCB18EC54C6}"/>
              </a:ext>
            </a:extLst>
          </p:cNvPr>
          <p:cNvSpPr txBox="1"/>
          <p:nvPr/>
        </p:nvSpPr>
        <p:spPr>
          <a:xfrm>
            <a:off x="511278" y="481781"/>
            <a:ext cx="7148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스프레드 연산자 </a:t>
            </a:r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(Spread Operator)</a:t>
            </a:r>
            <a:endParaRPr lang="ko-KR" altLang="en-US" sz="3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9FA778-CDBC-308B-105D-FE261E5CA1A2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객체나 배열을 펼치는 문법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42EFFE-2934-32A0-06C0-FE4A17CF0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8" y="2516087"/>
            <a:ext cx="3827042" cy="2262815"/>
          </a:xfrm>
          <a:prstGeom prst="rect">
            <a:avLst/>
          </a:prstGeo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830F710D-BC9F-7677-0DB1-9695CA6B2ABA}"/>
              </a:ext>
            </a:extLst>
          </p:cNvPr>
          <p:cNvSpPr/>
          <p:nvPr/>
        </p:nvSpPr>
        <p:spPr>
          <a:xfrm>
            <a:off x="2273657" y="3559136"/>
            <a:ext cx="465707" cy="316756"/>
          </a:xfrm>
          <a:prstGeom prst="frame">
            <a:avLst>
              <a:gd name="adj1" fmla="val 195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0CB1A-0C22-EB87-EC90-1029B9E4294B}"/>
              </a:ext>
            </a:extLst>
          </p:cNvPr>
          <p:cNvSpPr txBox="1"/>
          <p:nvPr/>
        </p:nvSpPr>
        <p:spPr>
          <a:xfrm>
            <a:off x="637033" y="5339966"/>
            <a:ext cx="39489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배열 안의 값을 펼쳐서 새로운 배열 생성</a:t>
            </a:r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&gt;&gt; 1,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2,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3</a:t>
            </a:r>
            <a:endParaRPr lang="ko-KR" altLang="en-US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0A1790ED-5DD7-3ED6-69DF-1610254F59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3417" y="1824400"/>
            <a:ext cx="2656313" cy="3659810"/>
          </a:xfrm>
          <a:prstGeom prst="rect">
            <a:avLst/>
          </a:prstGeom>
        </p:spPr>
      </p:pic>
      <p:sp>
        <p:nvSpPr>
          <p:cNvPr id="17" name="액자 16">
            <a:extLst>
              <a:ext uri="{FF2B5EF4-FFF2-40B4-BE49-F238E27FC236}">
                <a16:creationId xmlns:a16="http://schemas.microsoft.com/office/drawing/2014/main" id="{DB1AB58F-D466-D0FF-E98D-B7B61606748A}"/>
              </a:ext>
            </a:extLst>
          </p:cNvPr>
          <p:cNvSpPr/>
          <p:nvPr/>
        </p:nvSpPr>
        <p:spPr>
          <a:xfrm>
            <a:off x="5518664" y="4386220"/>
            <a:ext cx="577336" cy="392682"/>
          </a:xfrm>
          <a:prstGeom prst="frame">
            <a:avLst>
              <a:gd name="adj1" fmla="val 195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35DABB-5D50-13D0-1D71-E53F6C8680BE}"/>
              </a:ext>
            </a:extLst>
          </p:cNvPr>
          <p:cNvSpPr txBox="1"/>
          <p:nvPr/>
        </p:nvSpPr>
        <p:spPr>
          <a:xfrm>
            <a:off x="4489569" y="5613562"/>
            <a:ext cx="54932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newUser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= { name: ‘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효빈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’, age: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b="1" dirty="0">
                <a:solidFill>
                  <a:srgbClr val="FF000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26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}</a:t>
            </a:r>
          </a:p>
          <a:p>
            <a:endParaRPr lang="en-US" altLang="ko-KR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-&gt;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객체를 복사하고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일부 값만 수정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6D6AF-6FB7-AB1F-092E-14681A9A403C}"/>
              </a:ext>
            </a:extLst>
          </p:cNvPr>
          <p:cNvSpPr txBox="1"/>
          <p:nvPr/>
        </p:nvSpPr>
        <p:spPr>
          <a:xfrm>
            <a:off x="7555894" y="2707819"/>
            <a:ext cx="5123786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는 상태</a:t>
            </a:r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(State)</a:t>
            </a:r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직접 수정하지 않음</a:t>
            </a:r>
            <a:b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↓</a:t>
            </a:r>
            <a:b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새로운 객체를 만들어 상태 변경</a:t>
            </a:r>
            <a:endParaRPr lang="en-US" altLang="ko-KR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endParaRPr lang="en-US" altLang="ko-KR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endParaRPr lang="en-US" altLang="ko-KR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endParaRPr lang="en-US" altLang="ko-KR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algn="ctr"/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 </a:t>
            </a:r>
            <a:r>
              <a:rPr lang="en-US" altLang="ko-KR" sz="16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user.age</a:t>
            </a:r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= 26;   &lt;- </a:t>
            </a:r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이렇게 안 함</a:t>
            </a:r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!! )</a:t>
            </a:r>
            <a:endParaRPr lang="ko-KR" altLang="en-US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983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BEDFA-BDAF-E80A-01D8-7950D26A6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5ECB3-A1E8-967D-5098-CAB4F18295BE}"/>
              </a:ext>
            </a:extLst>
          </p:cNvPr>
          <p:cNvSpPr txBox="1"/>
          <p:nvPr/>
        </p:nvSpPr>
        <p:spPr>
          <a:xfrm>
            <a:off x="511278" y="481781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화살표 함수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01FA60-E434-F55F-6DA0-5326F013954D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함수를 더 짧고 간결하게 작성 가능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8A2D423-D25F-2844-E957-859401C39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78" y="2447389"/>
            <a:ext cx="2690627" cy="14812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A32935-909F-F5F8-3570-C713474C8AC8}"/>
              </a:ext>
            </a:extLst>
          </p:cNvPr>
          <p:cNvSpPr txBox="1"/>
          <p:nvPr/>
        </p:nvSpPr>
        <p:spPr>
          <a:xfrm>
            <a:off x="511278" y="1912668"/>
            <a:ext cx="1622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기존 함수 작성</a:t>
            </a:r>
            <a:endParaRPr lang="ko-KR" altLang="en-US" sz="18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B0CCB4B-2329-8707-A1C2-599760BB14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639" y="2322207"/>
            <a:ext cx="2698804" cy="14812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8D1E5A-F15C-A5BD-1458-8EBC757AF3F8}"/>
              </a:ext>
            </a:extLst>
          </p:cNvPr>
          <p:cNvSpPr txBox="1"/>
          <p:nvPr/>
        </p:nvSpPr>
        <p:spPr>
          <a:xfrm>
            <a:off x="511278" y="4261865"/>
            <a:ext cx="1622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endParaRPr lang="ko-KR" altLang="en-US" sz="18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9" name="액자 18">
            <a:extLst>
              <a:ext uri="{FF2B5EF4-FFF2-40B4-BE49-F238E27FC236}">
                <a16:creationId xmlns:a16="http://schemas.microsoft.com/office/drawing/2014/main" id="{419AD464-E46E-A095-E49D-2F732620E325}"/>
              </a:ext>
            </a:extLst>
          </p:cNvPr>
          <p:cNvSpPr/>
          <p:nvPr/>
        </p:nvSpPr>
        <p:spPr>
          <a:xfrm>
            <a:off x="4643120" y="2176896"/>
            <a:ext cx="5374640" cy="1730946"/>
          </a:xfrm>
          <a:prstGeom prst="frame">
            <a:avLst>
              <a:gd name="adj1" fmla="val 19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61CF3C-801F-A61C-022D-8FB1287A2688}"/>
              </a:ext>
            </a:extLst>
          </p:cNvPr>
          <p:cNvSpPr txBox="1"/>
          <p:nvPr/>
        </p:nvSpPr>
        <p:spPr>
          <a:xfrm>
            <a:off x="4643120" y="4053153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사실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단순 스타일의 변화라 큰 차이는 </a:t>
            </a:r>
            <a:r>
              <a:rPr lang="ko-KR" altLang="en-US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없어보이지만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CA54B34F-B3A1-AB91-92DA-889ECA64E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962" y="2322207"/>
            <a:ext cx="2223138" cy="137622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1D9E54E4-87BC-F27C-ABA0-56A7B0A9C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220" y="4774109"/>
            <a:ext cx="2851939" cy="135091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2D3D01A-E3A2-AA5D-9B51-D5E55047475A}"/>
              </a:ext>
            </a:extLst>
          </p:cNvPr>
          <p:cNvSpPr txBox="1"/>
          <p:nvPr/>
        </p:nvSpPr>
        <p:spPr>
          <a:xfrm>
            <a:off x="602718" y="6281455"/>
            <a:ext cx="10451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8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리액트에선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이런 걸 수십번씩 </a:t>
            </a:r>
            <a:r>
              <a:rPr lang="ko-KR" altLang="en-US" sz="18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해야할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수 도 있음</a:t>
            </a:r>
            <a:r>
              <a:rPr lang="en-US" altLang="ko-KR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 </a:t>
            </a:r>
            <a:r>
              <a:rPr lang="ko-KR" altLang="en-US" sz="18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조금이라도 간결하게 작성하는 것에 의의를 뒀다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..!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B20BB6EB-6934-8777-7E3D-910228B7B3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316" y="4956679"/>
            <a:ext cx="2898253" cy="1094619"/>
          </a:xfrm>
          <a:prstGeom prst="rect">
            <a:avLst/>
          </a:prstGeom>
        </p:spPr>
      </p:pic>
      <p:sp>
        <p:nvSpPr>
          <p:cNvPr id="28" name="액자 27">
            <a:extLst>
              <a:ext uri="{FF2B5EF4-FFF2-40B4-BE49-F238E27FC236}">
                <a16:creationId xmlns:a16="http://schemas.microsoft.com/office/drawing/2014/main" id="{F7F235AF-CD2A-453E-D780-7173DC95DE3E}"/>
              </a:ext>
            </a:extLst>
          </p:cNvPr>
          <p:cNvSpPr/>
          <p:nvPr/>
        </p:nvSpPr>
        <p:spPr>
          <a:xfrm>
            <a:off x="514584" y="4655613"/>
            <a:ext cx="9237515" cy="1558198"/>
          </a:xfrm>
          <a:prstGeom prst="frame">
            <a:avLst>
              <a:gd name="adj1" fmla="val 192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7BC2A49-37C6-8A59-76A7-A6C5B4FB3448}"/>
              </a:ext>
            </a:extLst>
          </p:cNvPr>
          <p:cNvSpPr txBox="1"/>
          <p:nvPr/>
        </p:nvSpPr>
        <p:spPr>
          <a:xfrm>
            <a:off x="4736638" y="1786564"/>
            <a:ext cx="1622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ES6</a:t>
            </a:r>
            <a:endParaRPr lang="ko-KR" altLang="en-US" sz="18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0" name="화살표: 오른쪽 29">
            <a:extLst>
              <a:ext uri="{FF2B5EF4-FFF2-40B4-BE49-F238E27FC236}">
                <a16:creationId xmlns:a16="http://schemas.microsoft.com/office/drawing/2014/main" id="{2D9B6CDD-6E66-97B2-A913-F1F0FAA2A0B3}"/>
              </a:ext>
            </a:extLst>
          </p:cNvPr>
          <p:cNvSpPr/>
          <p:nvPr/>
        </p:nvSpPr>
        <p:spPr>
          <a:xfrm>
            <a:off x="4400319" y="5239828"/>
            <a:ext cx="672639" cy="5283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0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53C6-728F-D5C5-A45A-8A81C186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54F503-35DD-52B1-3517-8EA61FF7ED08}"/>
              </a:ext>
            </a:extLst>
          </p:cNvPr>
          <p:cNvSpPr txBox="1"/>
          <p:nvPr/>
        </p:nvSpPr>
        <p:spPr>
          <a:xfrm>
            <a:off x="511278" y="481781"/>
            <a:ext cx="2287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모듈 시스템</a:t>
            </a:r>
            <a:endParaRPr lang="ko-KR" altLang="en-US" sz="3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32545-9231-DFEB-A9A1-479E25776A7C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코드를 파일 단위로 나누고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 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필요한 곳에서 가져다 쓰는 방식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D7EC37-973E-E11F-62F3-D94358ACF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38" y="2110099"/>
            <a:ext cx="2718718" cy="1948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9B6D42-B2B9-D34E-30F7-24F19EBBBC00}"/>
              </a:ext>
            </a:extLst>
          </p:cNvPr>
          <p:cNvSpPr txBox="1"/>
          <p:nvPr/>
        </p:nvSpPr>
        <p:spPr>
          <a:xfrm>
            <a:off x="511278" y="4274546"/>
            <a:ext cx="60317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이런 식으로 한 파일 안에 기능을 전부 구현하면</a:t>
            </a:r>
            <a:endParaRPr lang="en-US" altLang="ko-KR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파일이 커질수록 관리가 어렵다</a:t>
            </a:r>
            <a:r>
              <a:rPr lang="en-US" altLang="ko-KR" sz="16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!!</a:t>
            </a:r>
            <a:endParaRPr lang="ko-KR" altLang="en-US" sz="16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3DA69B1F-C970-C282-58D4-A4A98FBF4496}"/>
              </a:ext>
            </a:extLst>
          </p:cNvPr>
          <p:cNvSpPr/>
          <p:nvPr/>
        </p:nvSpPr>
        <p:spPr>
          <a:xfrm>
            <a:off x="2504375" y="2852708"/>
            <a:ext cx="1518985" cy="1731224"/>
          </a:xfrm>
          <a:prstGeom prst="mathMultiply">
            <a:avLst>
              <a:gd name="adj1" fmla="val 7088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B20114F-EBB1-F1EA-D30B-90548BEBF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9571" y="1668695"/>
            <a:ext cx="1848108" cy="160995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C2D538F-F0B8-0C75-7625-FB25ECA857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751" y="1654405"/>
            <a:ext cx="2038635" cy="1638529"/>
          </a:xfrm>
          <a:prstGeom prst="rect">
            <a:avLst/>
          </a:prstGeom>
        </p:spPr>
      </p:pic>
      <p:sp>
        <p:nvSpPr>
          <p:cNvPr id="21" name="액자 20">
            <a:extLst>
              <a:ext uri="{FF2B5EF4-FFF2-40B4-BE49-F238E27FC236}">
                <a16:creationId xmlns:a16="http://schemas.microsoft.com/office/drawing/2014/main" id="{CF50183A-0041-7B24-8B17-70523FB2728A}"/>
              </a:ext>
            </a:extLst>
          </p:cNvPr>
          <p:cNvSpPr/>
          <p:nvPr/>
        </p:nvSpPr>
        <p:spPr>
          <a:xfrm>
            <a:off x="6719571" y="2894116"/>
            <a:ext cx="609600" cy="392682"/>
          </a:xfrm>
          <a:prstGeom prst="frame">
            <a:avLst>
              <a:gd name="adj1" fmla="val 195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E7C8F48A-1538-4133-6FB2-CCB100AD612E}"/>
              </a:ext>
            </a:extLst>
          </p:cNvPr>
          <p:cNvSpPr/>
          <p:nvPr/>
        </p:nvSpPr>
        <p:spPr>
          <a:xfrm>
            <a:off x="9104689" y="2883956"/>
            <a:ext cx="609600" cy="392682"/>
          </a:xfrm>
          <a:prstGeom prst="frame">
            <a:avLst>
              <a:gd name="adj1" fmla="val 1959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2492134-94B7-4E66-7683-8B7FFDAB08AA}"/>
              </a:ext>
            </a:extLst>
          </p:cNvPr>
          <p:cNvSpPr txBox="1"/>
          <p:nvPr/>
        </p:nvSpPr>
        <p:spPr>
          <a:xfrm>
            <a:off x="9073751" y="3354635"/>
            <a:ext cx="24819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</a:t>
            </a:r>
            <a:r>
              <a:rPr lang="en-US" altLang="ko-KR" sz="1400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defalut</a:t>
            </a:r>
            <a:r>
              <a:rPr lang="ko-KR" altLang="en-US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</a:t>
            </a:r>
            <a:r>
              <a:rPr lang="en-US" altLang="ko-KR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:</a:t>
            </a:r>
            <a:r>
              <a:rPr lang="ko-KR" altLang="en-US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 이 파일의 대표 기능</a:t>
            </a:r>
            <a:r>
              <a:rPr lang="en-US" altLang="ko-KR" sz="1400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  <a:endParaRPr lang="ko-KR" altLang="en-US" sz="14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C5F61D-D928-2959-2CA6-7EBD23A9163B}"/>
              </a:ext>
            </a:extLst>
          </p:cNvPr>
          <p:cNvSpPr txBox="1"/>
          <p:nvPr/>
        </p:nvSpPr>
        <p:spPr>
          <a:xfrm>
            <a:off x="6643170" y="3592839"/>
            <a:ext cx="130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app.js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0CFEA6-4DC7-7A79-9568-8566D497DEE2}"/>
              </a:ext>
            </a:extLst>
          </p:cNvPr>
          <p:cNvSpPr txBox="1"/>
          <p:nvPr/>
        </p:nvSpPr>
        <p:spPr>
          <a:xfrm>
            <a:off x="9014261" y="1335166"/>
            <a:ext cx="130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Button.js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5C8D17AD-34AB-B9A2-E462-5E662ED57C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1" y="3989018"/>
            <a:ext cx="3486373" cy="1879019"/>
          </a:xfrm>
          <a:prstGeom prst="rect">
            <a:avLst/>
          </a:prstGeom>
        </p:spPr>
      </p:pic>
      <p:sp>
        <p:nvSpPr>
          <p:cNvPr id="42" name="액자 41">
            <a:extLst>
              <a:ext uri="{FF2B5EF4-FFF2-40B4-BE49-F238E27FC236}">
                <a16:creationId xmlns:a16="http://schemas.microsoft.com/office/drawing/2014/main" id="{4E8317EE-C144-CC05-A720-8A03BBFD2137}"/>
              </a:ext>
            </a:extLst>
          </p:cNvPr>
          <p:cNvSpPr/>
          <p:nvPr/>
        </p:nvSpPr>
        <p:spPr>
          <a:xfrm>
            <a:off x="6709411" y="4358496"/>
            <a:ext cx="3486373" cy="830809"/>
          </a:xfrm>
          <a:prstGeom prst="frame">
            <a:avLst>
              <a:gd name="adj1" fmla="val 492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046A6C-E5B2-4AA2-78FE-A8068D94047B}"/>
              </a:ext>
            </a:extLst>
          </p:cNvPr>
          <p:cNvSpPr txBox="1"/>
          <p:nvPr/>
        </p:nvSpPr>
        <p:spPr>
          <a:xfrm>
            <a:off x="447040" y="545288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export → </a:t>
            </a:r>
            <a: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다른 파일에서도 사용할 수 있게 내보냄</a:t>
            </a:r>
            <a:b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b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</a:br>
            <a:r>
              <a:rPr lang="en-US" altLang="ko-KR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import → </a:t>
            </a:r>
            <a:r>
              <a:rPr lang="ko-KR" altLang="en-US" b="1" dirty="0">
                <a:solidFill>
                  <a:srgbClr val="0070C0"/>
                </a:solidFill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다른 파일의 기능을 가져와 사용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6FC281-65F8-3F16-FE5C-EE31B0DC7EF1}"/>
              </a:ext>
            </a:extLst>
          </p:cNvPr>
          <p:cNvSpPr txBox="1"/>
          <p:nvPr/>
        </p:nvSpPr>
        <p:spPr>
          <a:xfrm>
            <a:off x="6643170" y="1335166"/>
            <a:ext cx="1300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Header.js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36683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F1221-9AB0-D08A-FE1E-DD4F4EC8E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7A635-6E60-29B3-247C-6B06C7A2BD6B}"/>
              </a:ext>
            </a:extLst>
          </p:cNvPr>
          <p:cNvSpPr txBox="1"/>
          <p:nvPr/>
        </p:nvSpPr>
        <p:spPr>
          <a:xfrm>
            <a:off x="511278" y="481781"/>
            <a:ext cx="53399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의 컴포넌트 기반 개발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63308B-1534-1384-1DFB-7FFDA02E909E}"/>
              </a:ext>
            </a:extLst>
          </p:cNvPr>
          <p:cNvSpPr txBox="1"/>
          <p:nvPr/>
        </p:nvSpPr>
        <p:spPr>
          <a:xfrm>
            <a:off x="511278" y="1232541"/>
            <a:ext cx="60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UI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작은 단위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(Component)</a:t>
            </a:r>
            <a:r>
              <a:rPr lang="ko-KR" altLang="en-US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로 나누어 개발한다</a:t>
            </a:r>
            <a:r>
              <a:rPr lang="en-US" altLang="ko-KR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</a:t>
            </a:r>
            <a:endParaRPr lang="ko-KR" altLang="en-US" sz="1800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EE37E62-BB3C-054E-7904-82D9BC0D3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72" y="1669492"/>
            <a:ext cx="9194035" cy="518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D5174A-349E-B890-F3F6-28C0F663290B}"/>
              </a:ext>
            </a:extLst>
          </p:cNvPr>
          <p:cNvSpPr txBox="1"/>
          <p:nvPr/>
        </p:nvSpPr>
        <p:spPr>
          <a:xfrm>
            <a:off x="9460374" y="3429000"/>
            <a:ext cx="24852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src</a:t>
            </a:r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App.jsx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components</a:t>
            </a:r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Header.jsx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Sidebar.jsx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Card.jsx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└──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Footer.jsx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pages</a:t>
            </a:r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/</a:t>
            </a: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├──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Home.jsx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│   └──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About.jsx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sz="1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└── </a:t>
            </a:r>
            <a:r>
              <a:rPr lang="ko-KR" altLang="en-US" sz="1600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index.jsx</a:t>
            </a:r>
            <a:endParaRPr lang="ko-KR" altLang="en-US" sz="1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1B27BC-264F-2D10-8FA9-C9CAABE1CEFA}"/>
              </a:ext>
            </a:extLst>
          </p:cNvPr>
          <p:cNvSpPr txBox="1"/>
          <p:nvPr/>
        </p:nvSpPr>
        <p:spPr>
          <a:xfrm>
            <a:off x="9079694" y="758780"/>
            <a:ext cx="24852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레고 블록처럼 조립한다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!!</a:t>
            </a:r>
            <a:endParaRPr lang="ko-KR" altLang="en-US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205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0CD58-5ED4-2C1D-41E4-D762AD72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3B400A-9169-3AC2-D345-ADC8AFF95FD2}"/>
              </a:ext>
            </a:extLst>
          </p:cNvPr>
          <p:cNvSpPr txBox="1"/>
          <p:nvPr/>
        </p:nvSpPr>
        <p:spPr>
          <a:xfrm>
            <a:off x="511278" y="481781"/>
            <a:ext cx="754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 </a:t>
            </a:r>
            <a:r>
              <a:rPr lang="ko-KR" altLang="en-US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코드는 왜 이렇게 어렵게 보일까</a:t>
            </a:r>
            <a:r>
              <a:rPr lang="en-US" altLang="ko-KR" sz="3600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...</a:t>
            </a:r>
            <a:endParaRPr lang="ko-KR" altLang="en-US" sz="3600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E6D1B1-96A1-648D-3EA0-527C0D9480AF}"/>
              </a:ext>
            </a:extLst>
          </p:cNvPr>
          <p:cNvSpPr txBox="1"/>
          <p:nvPr/>
        </p:nvSpPr>
        <p:spPr>
          <a:xfrm>
            <a:off x="685802" y="2459924"/>
            <a:ext cx="5410198" cy="249728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650"/>
              </a:lnSpc>
              <a:buNone/>
            </a:pPr>
            <a:endParaRPr lang="en-US" altLang="ko-KR" b="0" dirty="0">
              <a:solidFill>
                <a:srgbClr val="FF7B72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function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D2A8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Profile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({ 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en-US" altLang="ko-KR" b="0" dirty="0">
                <a:solidFill>
                  <a:srgbClr val="BBBEB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}) 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return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dirty="0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user</a:t>
            </a:r>
            <a:r>
              <a:rPr lang="en-US" altLang="ko-KR" b="0" dirty="0" err="1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.todos.</a:t>
            </a:r>
            <a:r>
              <a:rPr lang="en-US" altLang="ko-KR" b="0" dirty="0" err="1">
                <a:solidFill>
                  <a:srgbClr val="D2A8FF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map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b="0" dirty="0" err="1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=&gt;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</a:t>
            </a:r>
            <a:r>
              <a:rPr lang="en-US" altLang="ko-KR" b="0" dirty="0" err="1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TodoItem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>
                <a:solidFill>
                  <a:srgbClr val="FFA65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.id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{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...</a:t>
            </a:r>
            <a:r>
              <a:rPr lang="en-US" altLang="ko-KR" b="0" dirty="0" err="1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todo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))</a:t>
            </a:r>
            <a:r>
              <a:rPr lang="en-US" altLang="ko-KR" b="0" dirty="0">
                <a:solidFill>
                  <a:srgbClr val="FF7B72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&lt;/</a:t>
            </a:r>
            <a:r>
              <a:rPr lang="en-US" altLang="ko-KR" b="0" dirty="0">
                <a:solidFill>
                  <a:srgbClr val="7EE787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div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);</a:t>
            </a: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650"/>
              </a:lnSpc>
              <a:buNone/>
            </a:pPr>
            <a:r>
              <a:rPr lang="en-US" altLang="ko-KR" b="0" dirty="0">
                <a:solidFill>
                  <a:srgbClr val="C9D1D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</a:t>
            </a:r>
          </a:p>
          <a:p>
            <a:pPr>
              <a:lnSpc>
                <a:spcPts val="1650"/>
              </a:lnSpc>
              <a:buNone/>
            </a:pPr>
            <a:endParaRPr lang="en-US" altLang="ko-KR" b="0" dirty="0">
              <a:solidFill>
                <a:srgbClr val="BBBEBF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9CC91F-40B2-DB78-DAD8-CC35DAA2DE07}"/>
              </a:ext>
            </a:extLst>
          </p:cNvPr>
          <p:cNvSpPr txBox="1"/>
          <p:nvPr/>
        </p:nvSpPr>
        <p:spPr>
          <a:xfrm>
            <a:off x="1893491" y="5262863"/>
            <a:ext cx="42837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사실 전부 현대 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JavaScript 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문법 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(ES6) …</a:t>
            </a:r>
            <a:endParaRPr lang="ko-KR" altLang="en-US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7B5501-68A4-A548-07E8-FD8EC3A8C4F9}"/>
              </a:ext>
            </a:extLst>
          </p:cNvPr>
          <p:cNvSpPr txBox="1"/>
          <p:nvPr/>
        </p:nvSpPr>
        <p:spPr>
          <a:xfrm>
            <a:off x="7379891" y="2063475"/>
            <a:ext cx="428379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그래도 이해가 안되는데요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?</a:t>
            </a:r>
          </a:p>
          <a:p>
            <a:endParaRPr lang="en-US" altLang="ko-KR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오늘 내용은 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를 이해하기 위한 기반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..!</a:t>
            </a:r>
          </a:p>
          <a:p>
            <a:endParaRPr lang="en-US" altLang="ko-KR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Props</a:t>
            </a: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JSX</a:t>
            </a:r>
          </a:p>
          <a:p>
            <a:pPr marL="285750" indent="-285750">
              <a:buFontTx/>
              <a:buChar char="-"/>
            </a:pP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컴포넌트</a:t>
            </a:r>
            <a:endParaRPr lang="en-US" altLang="ko-KR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Hooks(</a:t>
            </a:r>
            <a:r>
              <a:rPr lang="en-US" altLang="ko-KR" b="1" dirty="0" err="1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useState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)</a:t>
            </a:r>
          </a:p>
          <a:p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…</a:t>
            </a:r>
          </a:p>
          <a:p>
            <a:pPr marL="285750" indent="-285750">
              <a:buFontTx/>
              <a:buChar char="-"/>
            </a:pPr>
            <a:endParaRPr lang="en-US" altLang="ko-KR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endParaRPr lang="en-US" altLang="ko-KR" b="1" dirty="0">
              <a:latin typeface="Pretendard Variable" panose="02000003000000020004" pitchFamily="2" charset="-127"/>
              <a:ea typeface="Pretendard Variable" panose="02000003000000020004" pitchFamily="2" charset="-127"/>
              <a:cs typeface="Pretendard Variable" panose="02000003000000020004" pitchFamily="2" charset="-127"/>
            </a:endParaRPr>
          </a:p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이후 배울 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React</a:t>
            </a:r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에서는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,</a:t>
            </a:r>
          </a:p>
          <a:p>
            <a:r>
              <a:rPr lang="ko-KR" altLang="en-US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오늘 본 문법들을 정말 자주 보게 된다</a:t>
            </a:r>
            <a:r>
              <a:rPr lang="en-US" altLang="ko-KR" b="1" dirty="0">
                <a:latin typeface="Pretendard Variable" panose="02000003000000020004" pitchFamily="2" charset="-127"/>
                <a:ea typeface="Pretendard Variable" panose="02000003000000020004" pitchFamily="2" charset="-127"/>
                <a:cs typeface="Pretendard Variable" panose="02000003000000020004" pitchFamily="2" charset="-127"/>
              </a:rPr>
              <a:t>!!</a:t>
            </a:r>
          </a:p>
        </p:txBody>
      </p:sp>
    </p:spTree>
    <p:extLst>
      <p:ext uri="{BB962C8B-B14F-4D97-AF65-F5344CB8AC3E}">
        <p14:creationId xmlns:p14="http://schemas.microsoft.com/office/powerpoint/2010/main" val="2114853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1872</Words>
  <Application>Microsoft Office PowerPoint</Application>
  <PresentationFormat>와이드스크린</PresentationFormat>
  <Paragraphs>205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D2</vt:lpstr>
      <vt:lpstr>D2Coding</vt:lpstr>
      <vt:lpstr>Pretendard Variable</vt:lpstr>
      <vt:lpstr>맑은 고딕</vt:lpstr>
      <vt:lpstr>Arial</vt:lpstr>
      <vt:lpstr>Office 테마</vt:lpstr>
      <vt:lpstr>프론트엔드 트랙 5주차 학습 발표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이효빈</dc:creator>
  <cp:lastModifiedBy>이효빈</cp:lastModifiedBy>
  <cp:revision>195</cp:revision>
  <dcterms:created xsi:type="dcterms:W3CDTF">2026-04-07T12:31:56Z</dcterms:created>
  <dcterms:modified xsi:type="dcterms:W3CDTF">2026-05-20T06:46:30Z</dcterms:modified>
</cp:coreProperties>
</file>