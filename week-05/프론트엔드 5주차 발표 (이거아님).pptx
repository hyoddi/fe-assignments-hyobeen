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319" autoAdjust="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44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dirty="0"/>
              <a:t>안녕하세요, 이효빈입니다.</a:t>
            </a:r>
          </a:p>
          <a:p>
            <a:r>
              <a:rPr lang="ko-KR" dirty="0"/>
              <a:t>오늘은 </a:t>
            </a:r>
            <a:r>
              <a:rPr lang="ko-KR" dirty="0" err="1"/>
              <a:t>리액트를</a:t>
            </a:r>
            <a:r>
              <a:rPr lang="ko-KR" dirty="0"/>
              <a:t> 본격적으로 배우기 전에, </a:t>
            </a:r>
            <a:r>
              <a:rPr lang="ko-KR" dirty="0" err="1"/>
              <a:t>const</a:t>
            </a:r>
            <a:r>
              <a:rPr lang="ko-KR" dirty="0"/>
              <a:t> </a:t>
            </a:r>
            <a:r>
              <a:rPr lang="ko-KR" dirty="0" err="1"/>
              <a:t>user</a:t>
            </a:r>
            <a:r>
              <a:rPr lang="ko-KR" dirty="0"/>
              <a:t> 같은 객체 하나를 놓고 값을 다루는 두 가지 방법을 정리해보겠습니다.</a:t>
            </a:r>
          </a:p>
          <a:p>
            <a:r>
              <a:rPr lang="ko-KR" dirty="0"/>
              <a:t>첫 번째는 구조분해할당 — 객체 안에서 값을 꺼내는 방법이고, 두 번째는 스프레드 — 객체를 통째로 펼치는 방법입니다. 이 둘을 모르면 </a:t>
            </a:r>
            <a:r>
              <a:rPr lang="ko-KR" dirty="0" err="1"/>
              <a:t>리액트</a:t>
            </a:r>
            <a:r>
              <a:rPr lang="ko-KR" dirty="0"/>
              <a:t> 코드가 외계어처럼 보일 수 있어요.</a:t>
            </a:r>
          </a:p>
          <a:p>
            <a:r>
              <a:rPr lang="ko-KR" dirty="0"/>
              <a:t>최대한 쉽게 설명할 테니 편하게 들어주세요!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방법 ① 꺼내기, 객체 구조분해할당부터 볼게요.</a:t>
            </a:r>
          </a:p>
          <a:p>
            <a:r>
              <a:rPr lang="ko-KR"/>
              <a:t>왼쪽이 기존 방식이에요. user.name, user.age 이렇게 하나씩 꺼내야 했죠.</a:t>
            </a:r>
          </a:p>
          <a:p>
            <a:r>
              <a:rPr lang="ko-KR"/>
              <a:t>오른쪽이 구조분해할당을 쓴 코드인데, const { name, age } = user 한 줄이면 끝이에요.</a:t>
            </a:r>
          </a:p>
          <a:p>
            <a:r>
              <a:rPr lang="ko-KR"/>
              <a:t>핵심은 '객체의 key 이름과 같은 변수명'을 쓰면 자동으로 매칭된다는 점입니다.</a:t>
            </a:r>
          </a:p>
          <a:p>
            <a:r>
              <a:rPr lang="ko-KR"/>
              <a:t>코드가 훨씬 짧아지고 읽기도 편해지죠.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근데 가끔 꺼낸 값의 변수명을 바꾸고 싶을 때가 있어요.</a:t>
            </a:r>
          </a:p>
          <a:p>
            <a:r>
              <a:rPr lang="ko-KR"/>
              <a:t>예를 들어 name이라는 변수가 이미 있을 수도 있잖아요.</a:t>
            </a:r>
          </a:p>
          <a:p>
            <a:r>
              <a:rPr lang="ko-KR"/>
              <a:t>그럴 때 콜론(:)을 써서 { name: userName } 이렇게 하면, name 값을 userName이라는 새 변수에 담을 수 있습니다.</a:t>
            </a:r>
          </a:p>
          <a:p>
            <a:r>
              <a:rPr lang="ko-KR"/>
              <a:t>리액트에서 props를 받을 때 이름 충돌 피하려고 자주 쓰는 패턴이에요.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배열 구조분해는 객체랑 비슷한데, 차이점은 '순서'로 매칭된다는 거예요.</a:t>
            </a:r>
          </a:p>
          <a:p>
            <a:r>
              <a:rPr lang="ko-KR"/>
              <a:t>const [a, b, c] = fruits 하면 첫 번째가 a, 두 번째가 b, 세 번째가 c에 들어갑니다.</a:t>
            </a:r>
          </a:p>
          <a:p>
            <a:r>
              <a:rPr lang="ko-KR"/>
              <a:t>전부 다 꺼낼 필요 없이 앞에 것만 꺼내거나, 쉼표로 건너뛸 수도 있어요.</a:t>
            </a:r>
          </a:p>
          <a:p>
            <a:r>
              <a:rPr lang="ko-KR"/>
              <a:t>리액트의 useState가 바로 이 배열 구조분해를 쓰는 대표적인 예시입니다.</a:t>
            </a:r>
          </a:p>
          <a:p>
            <a:r>
              <a:rPr lang="ko-KR"/>
              <a:t>const [count, setCount] = useState(0) 이런 식으로요.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이제 방법 ② 펼치기, 스프레드 연산자입니다. 같은 객체를 꺼내는 게 아니라 통째로 펼치는 거예요. 점 세 개(...)로 씁니다.</a:t>
            </a:r>
          </a:p>
          <a:p>
            <a:r>
              <a:rPr lang="ko-KR"/>
              <a:t>배열에서 쓰면 '배열을 펼친다'는 느낌입니다.</a:t>
            </a:r>
          </a:p>
          <a:p>
            <a:r>
              <a:rPr lang="ko-KR"/>
              <a:t>왼쪽처럼 두 배열을 합칠 때 [...arr1, ...arr2] 하면 각각의 요소가 쫙 펼쳐져서 하나의 새 배열이 됩니다.</a:t>
            </a:r>
          </a:p>
          <a:p>
            <a:r>
              <a:rPr lang="ko-KR"/>
              <a:t>오른쪽은 복사 예시인데, [...original] 하면 원본과 똑같은 새 배열이 만들어져요.</a:t>
            </a:r>
          </a:p>
          <a:p>
            <a:r>
              <a:rPr lang="ko-KR"/>
              <a:t>중요한 건 '새로운 배열'이라는 점! 원본에 영향을 주지 않습니다.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객체에서도 스프레드가 동일하게 동작합니다.</a:t>
            </a:r>
          </a:p>
          <a:p>
            <a:r>
              <a:rPr lang="ko-KR"/>
              <a:t>{ ...user }하면 user 객체의 모든 속성을 펼쳐서 새 객체를 만들어요.</a:t>
            </a:r>
          </a:p>
          <a:p>
            <a:r>
              <a:rPr lang="ko-KR"/>
              <a:t>두 객체를 합칠 때도 { ...user, ...info } 이렇게 하면 두 객체의 속성이 합쳐진 새 객체가 됩니다.</a:t>
            </a:r>
          </a:p>
          <a:p>
            <a:r>
              <a:rPr lang="ko-KR"/>
              <a:t>만약 같은 key가 있으면 나중에 오는 값이 덮어써요. 이 특성이 리액트에서 아주 중요합니다.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자, 이게 오늘의 핵심입니다.</a:t>
            </a:r>
          </a:p>
          <a:p>
            <a:r>
              <a:rPr lang="ko-KR"/>
              <a:t>리액트에서는 상태(state)를 직접 수정하면 안 돼요. user.age = 26 이렇게 하면 안 됩니다.</a:t>
            </a:r>
          </a:p>
          <a:p>
            <a:r>
              <a:rPr lang="ko-KR"/>
              <a:t>대신 setUser로 '새로운 객체'를 만들어서 넘겨야 해요.</a:t>
            </a:r>
          </a:p>
          <a:p>
            <a:r>
              <a:rPr lang="ko-KR"/>
              <a:t>이때 스프레드를 써서 ...user로 기존 값을 복사하고, age: 26으로 바꿀 값만 덮어쓰는 겁니다.</a:t>
            </a:r>
          </a:p>
          <a:p>
            <a:r>
              <a:rPr lang="ko-KR"/>
              <a:t>이 패턴은 리액트에서 정말 매일 쓰는 패턴이니까 꼭 익숙해지세요!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/>
              <a:t>마지막으로 한 줄 요약입니다.</a:t>
            </a:r>
          </a:p>
          <a:p>
            <a:r>
              <a:rPr lang="ko-KR"/>
              <a:t>구조분해할당은 '안에서 값을 꺼내는 것', 스프레드는 '안에 있는 걸 다 펼치는 것'으로 기억하면 됩니다.</a:t>
            </a:r>
          </a:p>
          <a:p>
            <a:r>
              <a:rPr lang="ko-KR"/>
              <a:t>이 두 가지만 알면 리액트 코드에서 { } 안에 ... 점 세 개가 나와도 당황하지 않을 거예요.</a:t>
            </a:r>
          </a:p>
          <a:p>
            <a:r>
              <a:rPr lang="ko-KR"/>
              <a:t>다음에는 이걸 바탕으로 본격적인 리액트 문법을 살펴보겠습니다. 감사합니다!</a:t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프론트엔드 </a:t>
            </a:r>
            <a:r>
              <a:rPr lang="en-US" altLang="ko-KR" sz="4400" b="1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5</a:t>
            </a:r>
            <a:r>
              <a:rPr lang="ko-KR" altLang="en-US" sz="4400" b="1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주차 발표</a:t>
            </a:r>
            <a:endParaRPr lang="en-US" sz="4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200">
                <a:solidFill>
                  <a:srgbClr val="4EC9B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리액트 맛보기 스푼</a:t>
            </a:r>
            <a:endParaRPr lang="en-US" sz="22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600">
                <a:solidFill>
                  <a:srgbClr val="8892A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Copilot</a:t>
            </a:r>
            <a:r>
              <a:rPr lang="ko-KR" altLang="en-US" sz="1600">
                <a:solidFill>
                  <a:srgbClr val="8892A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으로 만들었는데 너무 좋네요</a:t>
            </a:r>
            <a:endParaRPr lang="en-US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371600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400" dirty="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presenter</a:t>
            </a:r>
            <a:r>
              <a:rPr lang="en-US" sz="1400" dirty="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</a:t>
            </a: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'이효빈'</a:t>
            </a:r>
            <a:r>
              <a:rPr lang="en-US" sz="1400" dirty="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 구조분해</a:t>
            </a:r>
            <a:endParaRPr 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569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EC9B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방법 ① 꺼내기 — 객체에서 원하는 값만 쏙 빼오기</a:t>
            </a:r>
            <a:endParaRPr lang="en-US" sz="13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8892A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이렇게 객체가 있으면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377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b="1" dirty="0">
                <a:solidFill>
                  <a:srgbClr val="8892A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기존에는</a:t>
            </a:r>
            <a:r>
              <a:rPr lang="en-US" altLang="ko-KR" sz="1100" b="1" dirty="0">
                <a:solidFill>
                  <a:srgbClr val="8892A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…</a:t>
            </a:r>
            <a:endParaRPr lang="en-US" altLang="ko-KR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1652134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const </a:t>
            </a:r>
            <a:r>
              <a:rPr lang="en-US" sz="1300" dirty="0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user</a:t>
            </a: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= {</a:t>
            </a:r>
            <a:endParaRPr lang="en-US" sz="13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 name: </a:t>
            </a:r>
            <a:r>
              <a:rPr lang="en-US" sz="1300" dirty="0">
                <a:solidFill>
                  <a:srgbClr val="CE9178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'효빈'</a:t>
            </a: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,</a:t>
            </a:r>
            <a:endParaRPr lang="en-US" sz="13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 age: </a:t>
            </a:r>
            <a:r>
              <a:rPr lang="en-US" sz="1300" dirty="0">
                <a:solidFill>
                  <a:srgbClr val="B5CEA8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25</a:t>
            </a:r>
            <a:endParaRPr lang="en-US" sz="13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};</a:t>
            </a:r>
            <a:endParaRPr lang="en-US" sz="13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77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// 한 줄로 깔끔하게!</a:t>
            </a:r>
            <a:endParaRPr lang="en-US" sz="11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892A4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객체에서 같은 이름의 key를 찾아서 꺼내는 원리</a:t>
            </a:r>
            <a:endParaRPr lang="en-US" sz="13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327DD-6350-9B9F-FEED-D21F09A6804E}"/>
              </a:ext>
            </a:extLst>
          </p:cNvPr>
          <p:cNvSpPr txBox="1"/>
          <p:nvPr/>
        </p:nvSpPr>
        <p:spPr>
          <a:xfrm>
            <a:off x="4825538" y="3325906"/>
            <a:ext cx="3566160" cy="33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const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{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name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,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age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}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= user;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37760" y="1691640"/>
            <a:ext cx="3566160" cy="743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const </a:t>
            </a:r>
            <a:r>
              <a:rPr lang="en-US" sz="1300" dirty="0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name</a:t>
            </a: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= user.</a:t>
            </a:r>
            <a:r>
              <a:rPr lang="en-US" sz="1300" dirty="0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name</a:t>
            </a: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;</a:t>
            </a:r>
            <a:endParaRPr lang="en-US" sz="13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const </a:t>
            </a:r>
            <a:r>
              <a:rPr lang="en-US" sz="1300" dirty="0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age</a:t>
            </a: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 = </a:t>
            </a:r>
            <a:r>
              <a:rPr lang="en-US" sz="1300" dirty="0" err="1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user.</a:t>
            </a:r>
            <a:r>
              <a:rPr lang="en-US" sz="1300" dirty="0" err="1">
                <a:solidFill>
                  <a:srgbClr val="9CDCF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age</a:t>
            </a:r>
            <a:r>
              <a:rPr lang="en-US" sz="1300" dirty="0">
                <a:solidFill>
                  <a:srgbClr val="E8ECF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;</a:t>
            </a:r>
            <a:endParaRPr lang="en-US" sz="13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37760" y="2463038"/>
            <a:ext cx="3566160" cy="216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// </a:t>
            </a:r>
            <a:r>
              <a:rPr lang="en-US" sz="1100" dirty="0" err="1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일일이</a:t>
            </a:r>
            <a:r>
              <a:rPr lang="en-US" sz="1100" dirty="0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</a:t>
            </a:r>
            <a:r>
              <a:rPr lang="en-US" sz="1100" dirty="0" err="1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꺼내야</a:t>
            </a:r>
            <a:r>
              <a:rPr lang="en-US" sz="1100" dirty="0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</a:t>
            </a:r>
            <a:r>
              <a:rPr lang="en-US" sz="1100" dirty="0" err="1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해서</a:t>
            </a:r>
            <a:r>
              <a:rPr lang="en-US" sz="1100" dirty="0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 </a:t>
            </a:r>
            <a:r>
              <a:rPr lang="en-US" sz="1100" dirty="0" err="1">
                <a:solidFill>
                  <a:srgbClr val="6A995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Pretendard Variable" panose="02000003000000020004" pitchFamily="2" charset="-127"/>
              </a:rPr>
              <a:t>번거로움</a:t>
            </a:r>
            <a:endParaRPr lang="en-US" sz="1100" dirty="0">
              <a:latin typeface="D2Coding" panose="020B0609020101020101" pitchFamily="49" charset="-127"/>
              <a:ea typeface="D2Coding" panose="020B0609020101020101" pitchFamily="49" charset="-127"/>
              <a:cs typeface="Pretendard Variable" panose="02000003000000020004" pitchFamily="2" charset="-127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DB9805C-C387-E3E3-9AE9-D3E216403A5A}"/>
              </a:ext>
            </a:extLst>
          </p:cNvPr>
          <p:cNvSpPr/>
          <p:nvPr/>
        </p:nvSpPr>
        <p:spPr>
          <a:xfrm>
            <a:off x="4939536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4EC9B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 구조분해 문법을 사용하면</a:t>
            </a:r>
            <a:r>
              <a:rPr lang="en-US" altLang="ko-KR" sz="1100" b="1" dirty="0">
                <a:solidFill>
                  <a:srgbClr val="4EC9B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…</a:t>
            </a:r>
            <a:endParaRPr lang="en-US" sz="11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4EC9B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문법을 이용해서 손쉽게 이름을 바꿔보자</a:t>
            </a:r>
            <a:endParaRPr lang="en-US" sz="13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188720" y="155448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6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6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{ </a:t>
            </a:r>
            <a:r>
              <a:rPr lang="en-US" sz="16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name</a:t>
            </a:r>
            <a:r>
              <a:rPr lang="en-US" sz="16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: </a:t>
            </a:r>
            <a:r>
              <a:rPr lang="en-US" sz="16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userName</a:t>
            </a:r>
            <a:r>
              <a:rPr lang="en-US" sz="16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}</a:t>
            </a:r>
            <a:r>
              <a:rPr lang="en-US" sz="16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user;</a:t>
            </a:r>
            <a:endParaRPr lang="en-US" sz="1600"/>
          </a:p>
          <a:p>
            <a:pPr marL="0" indent="0">
              <a:lnSpc>
                <a:spcPct val="160000"/>
              </a:lnSpc>
              <a:buNone/>
            </a:pPr>
            <a:endParaRPr lang="en-US" sz="1600"/>
          </a:p>
          <a:p>
            <a:pPr marL="0" indent="0">
              <a:lnSpc>
                <a:spcPct val="160000"/>
              </a:lnSpc>
              <a:buNone/>
            </a:pPr>
            <a:r>
              <a:rPr lang="en-US" sz="16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console.</a:t>
            </a:r>
            <a:r>
              <a:rPr lang="en-US" sz="16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log</a:t>
            </a:r>
            <a:r>
              <a:rPr lang="en-US" sz="16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(</a:t>
            </a:r>
            <a:r>
              <a:rPr lang="en-US" sz="16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userName</a:t>
            </a:r>
            <a:r>
              <a:rPr lang="en-US" sz="16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);</a:t>
            </a:r>
            <a:r>
              <a:rPr lang="en-US" sz="1600">
                <a:solidFill>
                  <a:srgbClr val="00000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</a:t>
            </a:r>
            <a:r>
              <a:rPr lang="en-US" sz="16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'효빈'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749040"/>
            <a:ext cx="3291840" cy="10058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name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rgbClr val="8892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원래 key 이름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23360" y="3749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120640" y="3749040"/>
            <a:ext cx="3291840" cy="10058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25780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userName</a:t>
            </a: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rgbClr val="8892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새로운 변수명으로 저장</a:t>
            </a:r>
            <a:endParaRPr lang="en-US" sz="14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F5C99D0B-F477-FF46-D773-45932354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7224336B-1AA7-FF2A-299B-2DD15F6ABECA}"/>
              </a:ext>
            </a:extLst>
          </p:cNvPr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</a:t>
            </a:r>
            <a:r>
              <a:rPr lang="en-US" sz="2800" b="1" dirty="0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sz="2800" b="1" dirty="0" err="1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구조분해</a:t>
            </a:r>
            <a:r>
              <a:rPr lang="en-US" sz="2800" b="1" dirty="0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- </a:t>
            </a:r>
            <a:r>
              <a:rPr lang="ko-KR" altLang="en-US" sz="2800" b="1" dirty="0">
                <a:solidFill>
                  <a:srgbClr val="E8ECF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응용</a:t>
            </a:r>
            <a:endParaRPr 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배열 구조분해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Array Destructuring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21945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4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fruits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[</a:t>
            </a:r>
            <a:r>
              <a:rPr lang="en-US" sz="14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'apple'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4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'banana'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4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'orange'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];</a:t>
            </a:r>
            <a:endParaRPr lang="en-US" sz="1400"/>
          </a:p>
          <a:p>
            <a:pPr marL="0" indent="0">
              <a:lnSpc>
                <a:spcPct val="150000"/>
              </a:lnSpc>
              <a:buNone/>
            </a:pPr>
            <a:endParaRPr lang="en-US" sz="1400"/>
          </a:p>
          <a:p>
            <a:pPr marL="0" indent="0">
              <a:lnSpc>
                <a:spcPct val="150000"/>
              </a:lnSpc>
              <a:buNone/>
            </a:pPr>
            <a:r>
              <a:rPr lang="en-US" sz="14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4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[</a:t>
            </a:r>
            <a:r>
              <a:rPr lang="en-US" sz="14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4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b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4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</a:t>
            </a:r>
            <a:r>
              <a:rPr lang="en-US" sz="14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fruits;</a:t>
            </a:r>
            <a:endParaRPr lang="en-US" sz="1400"/>
          </a:p>
          <a:p>
            <a:pPr marL="0" indent="0">
              <a:lnSpc>
                <a:spcPct val="150000"/>
              </a:lnSpc>
              <a:buNone/>
            </a:pPr>
            <a:endParaRPr lang="en-US" sz="1400"/>
          </a:p>
          <a:p>
            <a:pPr marL="0" indent="0">
              <a:lnSpc>
                <a:spcPct val="150000"/>
              </a:lnSpc>
              <a:buNone/>
            </a:pPr>
            <a:r>
              <a:rPr lang="en-US" sz="14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console.</a:t>
            </a:r>
            <a:r>
              <a:rPr lang="en-US" sz="14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log</a:t>
            </a:r>
            <a:r>
              <a:rPr lang="en-US" sz="14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(a); </a:t>
            </a:r>
            <a:r>
              <a:rPr lang="en-US" sz="14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'apple'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배열은 순서대로 변수에 할당됨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393192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일부만 꺼내기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[first] = fruits;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4114800"/>
            <a:ext cx="393192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93776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건너뛰기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[, second] = fruits;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스프레드 연산자 (...)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방법 ② 펼치기 — 배열편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배열 펼치기 (합치기)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arr1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[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1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2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];</a:t>
            </a:r>
            <a:endParaRPr lang="en-US" sz="1200"/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arr2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[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3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4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];</a:t>
            </a:r>
            <a:endParaRPr lang="en-US" sz="1200"/>
          </a:p>
          <a:p>
            <a:pPr marL="0" indent="0">
              <a:lnSpc>
                <a:spcPct val="135000"/>
              </a:lnSpc>
              <a:buNone/>
            </a:pPr>
            <a:endParaRPr lang="en-US" sz="1200"/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result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[</a:t>
            </a: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arr1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arr2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];</a:t>
            </a:r>
            <a:endParaRPr lang="en-US" sz="1200"/>
          </a:p>
          <a:p>
            <a:pPr marL="0" indent="0">
              <a:lnSpc>
                <a:spcPct val="135000"/>
              </a:lnSpc>
              <a:buNone/>
            </a:pPr>
            <a:endParaRPr lang="en-US" sz="1200"/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[1, 2, 3, 4]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9377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배열 복사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original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[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1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2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3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];</a:t>
            </a:r>
            <a:endParaRPr lang="en-US" sz="1200"/>
          </a:p>
          <a:p>
            <a:pPr marL="0" indent="0">
              <a:lnSpc>
                <a:spcPct val="135000"/>
              </a:lnSpc>
              <a:buNone/>
            </a:pPr>
            <a:endParaRPr lang="en-US" sz="1200"/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copy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[</a:t>
            </a: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original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];</a:t>
            </a:r>
            <a:endParaRPr lang="en-US" sz="1200"/>
          </a:p>
          <a:p>
            <a:pPr marL="0" indent="0">
              <a:lnSpc>
                <a:spcPct val="135000"/>
              </a:lnSpc>
              <a:buNone/>
            </a:pPr>
            <a:endParaRPr lang="en-US" sz="1200"/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새 배열로 복사됨!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892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"펼친다" — 배열 안의 요소를 꺼내서 나열하는 느낌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스프레드 연산자 (...)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방법 ② 펼치기 — 객체편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객체 복사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{</a:t>
            </a:r>
            <a:endParaRPr lang="en-US" sz="1200"/>
          </a:p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name: </a:t>
            </a:r>
            <a:r>
              <a:rPr lang="en-US" sz="12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'효빈'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</a:t>
            </a:r>
            <a:endParaRPr lang="en-US" sz="1200"/>
          </a:p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age: 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25</a:t>
            </a:r>
            <a:endParaRPr lang="en-US" sz="1200"/>
          </a:p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};</a:t>
            </a:r>
            <a:endParaRPr lang="en-US" sz="1200"/>
          </a:p>
          <a:p>
            <a:pPr marL="0" indent="0">
              <a:lnSpc>
                <a:spcPct val="130000"/>
              </a:lnSpc>
              <a:buNone/>
            </a:pPr>
            <a:endParaRPr lang="en-US" sz="1200"/>
          </a:p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copyUser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{ </a:t>
            </a: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};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9377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객체 합치기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{ name: </a:t>
            </a:r>
            <a:r>
              <a:rPr lang="en-US" sz="120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'효빈'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};</a:t>
            </a:r>
            <a:endParaRPr lang="en-US" sz="1200"/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info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{ age: </a:t>
            </a:r>
            <a:r>
              <a:rPr lang="en-US" sz="12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25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};</a:t>
            </a:r>
            <a:endParaRPr lang="en-US" sz="1200"/>
          </a:p>
          <a:p>
            <a:pPr marL="0" indent="0">
              <a:lnSpc>
                <a:spcPct val="125000"/>
              </a:lnSpc>
              <a:buNone/>
            </a:pPr>
            <a:endParaRPr lang="en-US" sz="1200"/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const 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result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= {</a:t>
            </a:r>
            <a:endParaRPr lang="en-US" sz="1200"/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</a:t>
            </a: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</a:t>
            </a: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</a:t>
            </a:r>
            <a:endParaRPr lang="en-US" sz="1200"/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</a:t>
            </a:r>
            <a:r>
              <a:rPr lang="en-US" sz="12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2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info</a:t>
            </a:r>
            <a:endParaRPr lang="en-US" sz="1200"/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};</a:t>
            </a:r>
            <a:endParaRPr lang="en-US" sz="1200"/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{ name: '효빈', age: 25 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892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객체도 동일하게 펼쳐서 복사하거나 합칠 수 있음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리액트에서 스프레드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Why Spread Matters in React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리액트는 상태(state)를 직접 수정하면 안 됨</a:t>
            </a:r>
            <a:endParaRPr lang="en-US" sz="1500"/>
          </a:p>
          <a:p>
            <a:pPr marL="0" indent="0">
              <a:buNone/>
            </a:pPr>
            <a:r>
              <a:rPr lang="en-US" sz="1300">
                <a:solidFill>
                  <a:srgbClr val="8892A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새로운 객체/배열을 만들어서 교체해야 함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371600" y="2011680"/>
            <a:ext cx="6400800" cy="21945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645920" y="214884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user의 age만 26으로 변경</a:t>
            </a:r>
            <a:endParaRPr lang="en-US" sz="1500"/>
          </a:p>
          <a:p>
            <a:pPr marL="0" indent="0">
              <a:lnSpc>
                <a:spcPct val="145000"/>
              </a:lnSpc>
              <a:buNone/>
            </a:pPr>
            <a:endParaRPr lang="en-US" sz="1500"/>
          </a:p>
          <a:p>
            <a:pPr marL="0" indent="0">
              <a:lnSpc>
                <a:spcPct val="145000"/>
              </a:lnSpc>
              <a:buNone/>
            </a:pPr>
            <a:r>
              <a:rPr lang="en-US" sz="15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setUser</a:t>
            </a:r>
            <a:r>
              <a:rPr lang="en-US" sz="15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({</a:t>
            </a:r>
            <a:endParaRPr lang="en-US" sz="1500"/>
          </a:p>
          <a:p>
            <a:pPr marL="0" indent="0">
              <a:lnSpc>
                <a:spcPct val="145000"/>
              </a:lnSpc>
              <a:buNone/>
            </a:pPr>
            <a:r>
              <a:rPr lang="en-US" sz="15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</a:t>
            </a:r>
            <a:r>
              <a:rPr lang="en-US" sz="15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5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user</a:t>
            </a:r>
            <a:r>
              <a:rPr lang="en-US" sz="15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         </a:t>
            </a:r>
            <a:r>
              <a:rPr lang="en-US" sz="15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기존 값 복사</a:t>
            </a:r>
            <a:endParaRPr lang="en-US" sz="1500"/>
          </a:p>
          <a:p>
            <a:pPr marL="0" indent="0">
              <a:lnSpc>
                <a:spcPct val="145000"/>
              </a:lnSpc>
              <a:buNone/>
            </a:pPr>
            <a:r>
              <a:rPr lang="en-US" sz="15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age: </a:t>
            </a:r>
            <a:r>
              <a:rPr lang="en-US" sz="1500">
                <a:solidFill>
                  <a:srgbClr val="B5CE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26</a:t>
            </a:r>
            <a:r>
              <a:rPr lang="en-US" sz="15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       </a:t>
            </a:r>
            <a:r>
              <a:rPr lang="en-US" sz="1500">
                <a:solidFill>
                  <a:srgbClr val="6A995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// age만 덮어쓰기</a:t>
            </a:r>
            <a:endParaRPr lang="en-US" sz="1500"/>
          </a:p>
          <a:p>
            <a:pPr marL="0" indent="0">
              <a:lnSpc>
                <a:spcPct val="145000"/>
              </a:lnSpc>
              <a:buNone/>
            </a:pPr>
            <a:r>
              <a:rPr lang="en-US" sz="15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});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1620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user를 펼쳐서 복사하고, age만 새 값으로 덮어쓰는 패턴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줄 요약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EC9B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solidFill>
            <a:srgbClr val="4EC9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F162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문법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0" y="1234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F162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{ </a:t>
            </a:r>
            <a:r>
              <a:rPr lang="en-US" sz="13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name</a:t>
            </a:r>
            <a:r>
              <a:rPr lang="en-US" sz="13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} = user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객체 값 꺼내기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15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CDCA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[</a:t>
            </a:r>
            <a:r>
              <a:rPr lang="en-US" sz="13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</a:t>
            </a:r>
            <a:r>
              <a:rPr lang="en-US" sz="13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, </a:t>
            </a:r>
            <a:r>
              <a:rPr lang="en-US" sz="1300">
                <a:solidFill>
                  <a:srgbClr val="9CDCFE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b</a:t>
            </a:r>
            <a:r>
              <a:rPr lang="en-US" sz="13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] = arr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배열 값 꺼내기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3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arr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9768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배열 펼치기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solidFill>
            <a:srgbClr val="15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2296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586C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...</a:t>
            </a:r>
            <a:r>
              <a:rPr lang="en-US" sz="1300">
                <a:solidFill>
                  <a:srgbClr val="E8ECF1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obj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9768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CF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객체 펼치기 / 복사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3657600"/>
            <a:ext cx="3749040" cy="12801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22960" y="3794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구조분해할당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</a:t>
            </a:r>
            <a:r>
              <a:rPr lang="en-US" sz="1400" dirty="0" err="1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안에서</a:t>
            </a: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값 좀 </a:t>
            </a:r>
            <a:r>
              <a:rPr lang="en-US" sz="1400" dirty="0" err="1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꺼내줘</a:t>
            </a: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754880" y="3657600"/>
            <a:ext cx="3749040" cy="12801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937760" y="3794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EC9B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스프레드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</a:t>
            </a:r>
            <a:r>
              <a:rPr lang="en-US" sz="1400" dirty="0" err="1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안에</a:t>
            </a: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</a:t>
            </a:r>
            <a:r>
              <a:rPr lang="en-US" sz="1400" dirty="0" err="1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있는</a:t>
            </a: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거 다 </a:t>
            </a:r>
            <a:r>
              <a:rPr lang="en-US" sz="1400" dirty="0" err="1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펼쳐줘</a:t>
            </a:r>
            <a:r>
              <a:rPr lang="en-US" sz="1400" dirty="0">
                <a:solidFill>
                  <a:srgbClr val="CE917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984</Words>
  <Application>Microsoft Office PowerPoint</Application>
  <PresentationFormat>화면 슬라이드 쇼(16:9)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D2Coding</vt:lpstr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이효빈</dc:creator>
  <cp:lastModifiedBy>이효빈</cp:lastModifiedBy>
  <cp:revision>106</cp:revision>
  <dcterms:created xsi:type="dcterms:W3CDTF">2026-04-07T12:31:56Z</dcterms:created>
  <dcterms:modified xsi:type="dcterms:W3CDTF">2026-05-17T06:38:14Z</dcterms:modified>
</cp:coreProperties>
</file>