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2" r:id="rId3"/>
    <p:sldId id="263" r:id="rId4"/>
    <p:sldId id="265" r:id="rId5"/>
    <p:sldId id="266" r:id="rId6"/>
    <p:sldId id="268" r:id="rId7"/>
    <p:sldId id="267" r:id="rId8"/>
    <p:sldId id="269" r:id="rId9"/>
    <p:sldId id="270" r:id="rId10"/>
    <p:sldId id="271" r:id="rId11"/>
    <p:sldId id="272" r:id="rId12"/>
    <p:sldId id="273" r:id="rId13"/>
    <p:sldId id="274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67539" autoAdjust="0"/>
  </p:normalViewPr>
  <p:slideViewPr>
    <p:cSldViewPr snapToGrid="0">
      <p:cViewPr varScale="1">
        <p:scale>
          <a:sx n="55" d="100"/>
          <a:sy n="55" d="100"/>
        </p:scale>
        <p:origin x="174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FB7391-135F-4CD2-8DF8-1CE25E965FED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78C448-4B01-45DC-A693-05AA9EC75D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4941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8C448-4B01-45DC-A693-05AA9EC75D2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42745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먼저</a:t>
            </a:r>
            <a:r>
              <a:rPr lang="en-US" altLang="ko-KR" dirty="0"/>
              <a:t>, </a:t>
            </a:r>
            <a:r>
              <a:rPr lang="ko-KR" altLang="en-US" dirty="0" err="1"/>
              <a:t>프론트엔드가</a:t>
            </a:r>
            <a:r>
              <a:rPr lang="ko-KR" altLang="en-US" dirty="0"/>
              <a:t> 무엇인지 간단히 </a:t>
            </a:r>
            <a:r>
              <a:rPr lang="ko-KR" altLang="en-US" dirty="0" err="1"/>
              <a:t>설명드리겠습니다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프론트엔드는</a:t>
            </a:r>
            <a:r>
              <a:rPr lang="ko-KR" altLang="en-US" dirty="0"/>
              <a:t> 사용자가 직접 보게 되는 화면</a:t>
            </a:r>
            <a:r>
              <a:rPr lang="en-US" altLang="ko-KR" dirty="0"/>
              <a:t>, </a:t>
            </a:r>
            <a:r>
              <a:rPr lang="ko-KR" altLang="en-US" dirty="0"/>
              <a:t>그리고 그 화면에서 이루어지는 모든 인터페이스를 만드는 영역입니다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우리가 웹사이트에 들어갔을 때 보고</a:t>
            </a:r>
            <a:r>
              <a:rPr lang="en-US" altLang="ko-KR" dirty="0"/>
              <a:t>, </a:t>
            </a:r>
            <a:r>
              <a:rPr lang="ko-KR" altLang="en-US" dirty="0"/>
              <a:t>클릭하고</a:t>
            </a:r>
            <a:r>
              <a:rPr lang="en-US" altLang="ko-KR" dirty="0"/>
              <a:t>, </a:t>
            </a:r>
            <a:r>
              <a:rPr lang="ko-KR" altLang="en-US" dirty="0"/>
              <a:t>입력하는 모든 부분이 </a:t>
            </a:r>
            <a:r>
              <a:rPr lang="ko-KR" altLang="en-US" dirty="0" err="1"/>
              <a:t>프론트엔드라고</a:t>
            </a:r>
            <a:r>
              <a:rPr lang="ko-KR" altLang="en-US" dirty="0"/>
              <a:t> 보시면 됩니다</a:t>
            </a:r>
            <a:r>
              <a:rPr lang="en-US" altLang="ko-KR" dirty="0"/>
              <a:t>.</a:t>
            </a:r>
            <a:br>
              <a:rPr lang="en-US" altLang="ko-KR" dirty="0"/>
            </a:br>
            <a:endParaRPr lang="en-US" altLang="ko-KR" dirty="0"/>
          </a:p>
          <a:p>
            <a:r>
              <a:rPr lang="ko-KR" altLang="en-US" dirty="0" err="1"/>
              <a:t>프론트엔드</a:t>
            </a:r>
            <a:r>
              <a:rPr lang="ko-KR" altLang="en-US" dirty="0"/>
              <a:t> 개발자의 역할은 크게 세 가지로 나눌 수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첫 번째는 </a:t>
            </a:r>
            <a:r>
              <a:rPr lang="ko-KR" altLang="en-US" b="1" dirty="0"/>
              <a:t>화면 구성</a:t>
            </a:r>
            <a:r>
              <a:rPr lang="en-US" altLang="ko-KR" b="1" dirty="0"/>
              <a:t>, </a:t>
            </a:r>
            <a:r>
              <a:rPr lang="ko-KR" altLang="en-US" b="1" dirty="0"/>
              <a:t>즉 스타일링입니다</a:t>
            </a:r>
            <a:r>
              <a:rPr lang="en-US" altLang="ko-KR" b="1" dirty="0"/>
              <a:t>.</a:t>
            </a:r>
            <a:br>
              <a:rPr lang="ko-KR" altLang="en-US" dirty="0"/>
            </a:br>
            <a:r>
              <a:rPr lang="ko-KR" altLang="en-US" dirty="0"/>
              <a:t>디자인을 실제 웹 페이지로 구현하고</a:t>
            </a:r>
            <a:r>
              <a:rPr lang="en-US" altLang="ko-KR" dirty="0"/>
              <a:t>, </a:t>
            </a:r>
            <a:r>
              <a:rPr lang="ko-KR" altLang="en-US" dirty="0"/>
              <a:t>레이아웃을 잡고</a:t>
            </a:r>
            <a:r>
              <a:rPr lang="en-US" altLang="ko-KR" dirty="0"/>
              <a:t>, </a:t>
            </a:r>
            <a:r>
              <a:rPr lang="ko-KR" altLang="en-US" dirty="0"/>
              <a:t>버튼이나 카드 같은 </a:t>
            </a:r>
            <a:r>
              <a:rPr lang="en-US" altLang="ko-KR" dirty="0"/>
              <a:t>UI </a:t>
            </a:r>
            <a:r>
              <a:rPr lang="ko-KR" altLang="en-US" dirty="0"/>
              <a:t>요소들을 배치하는 역할을 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두 번째는 </a:t>
            </a:r>
            <a:r>
              <a:rPr lang="ko-KR" altLang="en-US" b="1" dirty="0"/>
              <a:t>사용자 입력 처리입니다</a:t>
            </a:r>
            <a:r>
              <a:rPr lang="en-US" altLang="ko-KR" b="1" dirty="0"/>
              <a:t>.</a:t>
            </a:r>
            <a:br>
              <a:rPr lang="ko-KR" altLang="en-US" dirty="0"/>
            </a:br>
            <a:r>
              <a:rPr lang="ko-KR" altLang="en-US" dirty="0"/>
              <a:t>사용자가 버튼을 클릭하거나</a:t>
            </a:r>
            <a:r>
              <a:rPr lang="en-US" altLang="ko-KR" dirty="0"/>
              <a:t>, </a:t>
            </a:r>
            <a:r>
              <a:rPr lang="ko-KR" altLang="en-US" dirty="0"/>
              <a:t>로그인 정보를 입력하거나</a:t>
            </a:r>
            <a:r>
              <a:rPr lang="en-US" altLang="ko-KR" dirty="0"/>
              <a:t>, </a:t>
            </a:r>
            <a:r>
              <a:rPr lang="ko-KR" altLang="en-US" dirty="0"/>
              <a:t>폼에 데이터를 입력했을 때 그 동작을 처리하는 부분입니다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세 번째는 </a:t>
            </a:r>
            <a:r>
              <a:rPr lang="ko-KR" altLang="en-US" b="1" dirty="0"/>
              <a:t>서버와의 통신입니다</a:t>
            </a:r>
            <a:r>
              <a:rPr lang="en-US" altLang="ko-KR" b="1" dirty="0"/>
              <a:t>.</a:t>
            </a:r>
            <a:br>
              <a:rPr lang="ko-KR" altLang="en-US" dirty="0"/>
            </a:br>
            <a:r>
              <a:rPr lang="ko-KR" altLang="en-US" dirty="0"/>
              <a:t>서버로부터 데이터를 받아와서 화면에 보여주거나</a:t>
            </a:r>
            <a:r>
              <a:rPr lang="en-US" altLang="ko-KR" dirty="0"/>
              <a:t>, </a:t>
            </a:r>
            <a:r>
              <a:rPr lang="ko-KR" altLang="en-US" dirty="0"/>
              <a:t>사용자가 입력한 데이터를 서버로 보내는 역할을 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정리하면</a:t>
            </a:r>
            <a:r>
              <a:rPr lang="en-US" altLang="ko-KR" dirty="0"/>
              <a:t>, </a:t>
            </a:r>
            <a:r>
              <a:rPr lang="ko-KR" altLang="en-US" dirty="0" err="1"/>
              <a:t>프론트엔드는</a:t>
            </a:r>
            <a:r>
              <a:rPr lang="ko-KR" altLang="en-US" dirty="0"/>
              <a:t> 단순히 화면만 만드는 것이 아니라</a:t>
            </a:r>
            <a:br>
              <a:rPr lang="ko-KR" altLang="en-US" dirty="0"/>
            </a:br>
            <a:r>
              <a:rPr lang="ko-KR" altLang="en-US" dirty="0"/>
              <a:t>사용자의 행동을 처리하고</a:t>
            </a:r>
            <a:r>
              <a:rPr lang="en-US" altLang="ko-KR" dirty="0"/>
              <a:t>, </a:t>
            </a:r>
            <a:r>
              <a:rPr lang="ko-KR" altLang="en-US" dirty="0"/>
              <a:t>서버와 연결해서 실제로 동작하는 화면을 만드는 역할이라고 이해하시면 됩니다</a:t>
            </a:r>
            <a:r>
              <a:rPr lang="en-US" altLang="ko-KR" dirty="0"/>
              <a:t>.”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8C448-4B01-45DC-A693-05AA9EC75D23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51023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웹은 처음부터 지금처럼 복잡한 서비스가 아니었습니다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처음에는 단순히 논문이나 글 같은 문서를 공유하기 위한 기술이었습니다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가장 먼저 등장한 것이</a:t>
            </a:r>
            <a:r>
              <a:rPr lang="en-US" altLang="ko-KR" dirty="0"/>
              <a:t>, </a:t>
            </a:r>
            <a:r>
              <a:rPr lang="ko-KR" altLang="en-US" dirty="0"/>
              <a:t>문서의 구조를 표현하는 </a:t>
            </a:r>
            <a:r>
              <a:rPr lang="en-US" altLang="ko-KR" dirty="0"/>
              <a:t>HTML</a:t>
            </a:r>
            <a:r>
              <a:rPr lang="ko-KR" altLang="en-US" dirty="0"/>
              <a:t>이었습니다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하지만 시간이 지나면서</a:t>
            </a:r>
            <a:r>
              <a:rPr lang="en-US" altLang="ko-KR" dirty="0"/>
              <a:t>, </a:t>
            </a:r>
            <a:r>
              <a:rPr lang="ko-KR" altLang="en-US" dirty="0"/>
              <a:t>단순한 텍스트만으로는 부족해졌습니다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사람들은 더 보기 좋은 화면을 원했고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그 결과 </a:t>
            </a:r>
            <a:r>
              <a:rPr lang="en-US" altLang="ko-KR" dirty="0"/>
              <a:t>CSS</a:t>
            </a:r>
            <a:r>
              <a:rPr lang="ko-KR" altLang="en-US" dirty="0"/>
              <a:t>가 등장해 디자인을 담당하게 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그리고 여기서 끝나지 않고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사용자와 상호작용하는 기능이 필요해지면서</a:t>
            </a:r>
            <a:br>
              <a:rPr lang="ko-KR" altLang="en-US" dirty="0"/>
            </a:br>
            <a:r>
              <a:rPr lang="en-US" altLang="ko-KR" dirty="0"/>
              <a:t>JavaScript</a:t>
            </a:r>
            <a:r>
              <a:rPr lang="ko-KR" altLang="en-US" dirty="0"/>
              <a:t>가 추가되었습니다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이렇게 웹은 ‘</a:t>
            </a:r>
            <a:r>
              <a:rPr lang="ko-KR" altLang="en-US" dirty="0" err="1"/>
              <a:t>문서’에서</a:t>
            </a:r>
            <a:r>
              <a:rPr lang="ko-KR" altLang="en-US" dirty="0"/>
              <a:t> 시작해서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점점 ‘</a:t>
            </a:r>
            <a:r>
              <a:rPr lang="ko-KR" altLang="en-US" dirty="0" err="1"/>
              <a:t>애플리케이션’으로</a:t>
            </a:r>
            <a:r>
              <a:rPr lang="ko-KR" altLang="en-US" dirty="0"/>
              <a:t> 발전하게 됩니다</a:t>
            </a:r>
            <a:r>
              <a:rPr lang="en-US" altLang="ko-KR" dirty="0"/>
              <a:t>.”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8C448-4B01-45DC-A693-05AA9EC75D23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55419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브라우저는 코드를 그대로 보여주는 것이 아니라</a:t>
            </a:r>
            <a:r>
              <a:rPr lang="en-US" altLang="ko-KR" dirty="0"/>
              <a:t>, </a:t>
            </a:r>
            <a:r>
              <a:rPr lang="ko-KR" altLang="en-US" dirty="0"/>
              <a:t>여러 단계를 거쳐 화면을 만들어냅니다</a:t>
            </a:r>
            <a:r>
              <a:rPr lang="en-US" altLang="ko-KR" dirty="0"/>
              <a:t>. – </a:t>
            </a:r>
            <a:r>
              <a:rPr lang="ko-KR" altLang="en-US" dirty="0"/>
              <a:t>보시는 화면이 곧 브라우저의 렌더링 과정이 되겠죠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ko-KR" altLang="en-US" dirty="0"/>
              <a:t>먼저 </a:t>
            </a:r>
            <a:r>
              <a:rPr lang="en-US" altLang="ko-KR" dirty="0"/>
              <a:t>HTML</a:t>
            </a:r>
            <a:r>
              <a:rPr lang="ko-KR" altLang="en-US" dirty="0"/>
              <a:t>을 읽어서 </a:t>
            </a:r>
            <a:r>
              <a:rPr lang="en-US" altLang="ko-KR" dirty="0"/>
              <a:t>DOM</a:t>
            </a:r>
            <a:r>
              <a:rPr lang="ko-KR" altLang="en-US" dirty="0"/>
              <a:t>이라는 구조를 만든다</a:t>
            </a:r>
            <a:endParaRPr lang="en-US" altLang="ko-KR" dirty="0"/>
          </a:p>
          <a:p>
            <a:r>
              <a:rPr lang="en-US" altLang="ko-KR" dirty="0"/>
              <a:t>CSS</a:t>
            </a:r>
            <a:r>
              <a:rPr lang="ko-KR" altLang="en-US" dirty="0"/>
              <a:t>도 따로 읽어서 </a:t>
            </a:r>
            <a:r>
              <a:rPr lang="en-US" altLang="ko-KR" dirty="0"/>
              <a:t>CSSOM</a:t>
            </a:r>
            <a:r>
              <a:rPr lang="ko-KR" altLang="en-US" dirty="0"/>
              <a:t>이라는 스타일 정보를 만든다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이 두 가지를 합쳐서</a:t>
            </a:r>
            <a:r>
              <a:rPr lang="en-US" altLang="ko-KR" dirty="0"/>
              <a:t>, </a:t>
            </a:r>
            <a:r>
              <a:rPr lang="ko-KR" altLang="en-US" dirty="0"/>
              <a:t>실제 화면에 표시할 요소들만 모은 </a:t>
            </a:r>
            <a:r>
              <a:rPr lang="en-US" altLang="ko-KR" dirty="0"/>
              <a:t>Render Tree</a:t>
            </a:r>
            <a:r>
              <a:rPr lang="ko-KR" altLang="en-US" dirty="0"/>
              <a:t>를 만든다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그 다음</a:t>
            </a:r>
            <a:r>
              <a:rPr lang="en-US" altLang="ko-KR" dirty="0"/>
              <a:t>, </a:t>
            </a:r>
            <a:r>
              <a:rPr lang="ko-KR" altLang="en-US" dirty="0"/>
              <a:t>각 요소의 위치와 크기를 계산하고</a:t>
            </a:r>
            <a:endParaRPr lang="en-US" altLang="ko-KR" dirty="0"/>
          </a:p>
          <a:p>
            <a:r>
              <a:rPr lang="ko-KR" altLang="en-US" dirty="0"/>
              <a:t>실제로 픽셀을 그리기 시작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마지막으로 여러 레이어를 합쳐서 최종 화면을 완성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8C448-4B01-45DC-A693-05AA9EC75D23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69166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30B01-3006-D627-1CBE-8677774C9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FAF509-5569-54ED-3DE6-0AF3219C63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EC5B9B-B680-D641-03D0-83BEF6887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r>
              <a:rPr lang="ko-KR" altLang="en-US" dirty="0"/>
              <a:t>은 브라우저가 </a:t>
            </a:r>
            <a:r>
              <a:rPr lang="en-US" altLang="ko-KR" dirty="0"/>
              <a:t>HTML</a:t>
            </a:r>
            <a:r>
              <a:rPr lang="ko-KR" altLang="en-US" dirty="0"/>
              <a:t>을 다루기 위해 만든 “표준화된 객체 모델</a:t>
            </a:r>
            <a:r>
              <a:rPr lang="en-US" altLang="ko-KR" dirty="0"/>
              <a:t>”</a:t>
            </a:r>
          </a:p>
          <a:p>
            <a:endParaRPr lang="en-US" altLang="ko-KR" dirty="0"/>
          </a:p>
          <a:p>
            <a:r>
              <a:rPr lang="en-US" altLang="ko-KR" dirty="0"/>
              <a:t>HTML</a:t>
            </a:r>
            <a:r>
              <a:rPr lang="ko-KR" altLang="en-US" dirty="0"/>
              <a:t>은 사실 그냥 텍스트 파일입니다</a:t>
            </a:r>
            <a:r>
              <a:rPr lang="en-US" altLang="ko-KR" dirty="0"/>
              <a:t>. </a:t>
            </a:r>
            <a:r>
              <a:rPr lang="ko-KR" altLang="en-US" dirty="0"/>
              <a:t>이 상태에서는 특정 요소를 찾거나</a:t>
            </a:r>
            <a:r>
              <a:rPr lang="en-US" altLang="ko-KR" dirty="0"/>
              <a:t>, </a:t>
            </a:r>
            <a:r>
              <a:rPr lang="ko-KR" altLang="en-US" dirty="0"/>
              <a:t>수정하거나</a:t>
            </a:r>
            <a:r>
              <a:rPr lang="en-US" altLang="ko-KR" dirty="0"/>
              <a:t>, </a:t>
            </a:r>
            <a:r>
              <a:rPr lang="ko-KR" altLang="en-US" dirty="0"/>
              <a:t>프로그램처럼 다루기가 어렵습니다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브라우저는 </a:t>
            </a:r>
            <a:r>
              <a:rPr lang="en-US" altLang="ko-KR" dirty="0"/>
              <a:t>HTML</a:t>
            </a:r>
            <a:r>
              <a:rPr lang="ko-KR" altLang="en-US" dirty="0"/>
              <a:t>을 읽은 뒤</a:t>
            </a:r>
            <a:r>
              <a:rPr lang="en-US" altLang="ko-KR" dirty="0"/>
              <a:t>, </a:t>
            </a:r>
            <a:r>
              <a:rPr lang="ko-KR" altLang="en-US" dirty="0"/>
              <a:t>이를 트리 구조로 변환해서 </a:t>
            </a:r>
            <a:r>
              <a:rPr lang="en-US" altLang="ko-KR" dirty="0"/>
              <a:t>DOM</a:t>
            </a:r>
            <a:r>
              <a:rPr lang="ko-KR" altLang="en-US" dirty="0"/>
              <a:t>을 만듭니다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이렇게 구조화된 </a:t>
            </a:r>
            <a:r>
              <a:rPr lang="en-US" altLang="ko-KR" dirty="0"/>
              <a:t>DOM</a:t>
            </a:r>
            <a:r>
              <a:rPr lang="ko-KR" altLang="en-US" dirty="0"/>
              <a:t>을 사용하면</a:t>
            </a:r>
            <a:r>
              <a:rPr lang="en-US" altLang="ko-KR" dirty="0"/>
              <a:t>, </a:t>
            </a:r>
            <a:r>
              <a:rPr lang="ko-KR" altLang="en-US" dirty="0"/>
              <a:t>특정 요소를 쉽게 찾을 수 있고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dirty="0"/>
              <a:t>JavaScript</a:t>
            </a:r>
            <a:r>
              <a:rPr lang="ko-KR" altLang="en-US" dirty="0"/>
              <a:t>를 통해 동적으로 변경할 수도 있습니다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즉</a:t>
            </a:r>
            <a:r>
              <a:rPr lang="en-US" altLang="ko-KR" dirty="0"/>
              <a:t>, DOM</a:t>
            </a:r>
            <a:r>
              <a:rPr lang="ko-KR" altLang="en-US" dirty="0"/>
              <a:t>은 </a:t>
            </a:r>
            <a:r>
              <a:rPr lang="en-US" altLang="ko-KR" dirty="0"/>
              <a:t>HTML</a:t>
            </a:r>
            <a:r>
              <a:rPr lang="ko-KR" altLang="en-US" dirty="0"/>
              <a:t>을 단순한 텍스트가 아니라 ‘</a:t>
            </a:r>
            <a:r>
              <a:rPr lang="ko-KR" altLang="en-US" b="1" dirty="0"/>
              <a:t>조작 가능한 </a:t>
            </a:r>
            <a:r>
              <a:rPr lang="ko-KR" altLang="en-US" b="1" dirty="0" err="1"/>
              <a:t>구조</a:t>
            </a:r>
            <a:r>
              <a:rPr lang="ko-KR" altLang="en-US" dirty="0" err="1"/>
              <a:t>’로</a:t>
            </a:r>
            <a:r>
              <a:rPr lang="ko-KR" altLang="en-US" dirty="0"/>
              <a:t> 바꿔주는 역할을 합니다</a:t>
            </a:r>
            <a:r>
              <a:rPr lang="en-US" altLang="ko-KR" dirty="0"/>
              <a:t>.”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E4530B-93E7-4597-604C-A587C87BE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8C448-4B01-45DC-A693-05AA9EC75D23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4636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70234-5E5E-E491-C5A5-3C49A7154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2AE3CAA-84FD-F049-3F6E-16E7FE9A0D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0547889-4EF3-9564-0499-F2E0263A22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r>
              <a:rPr lang="ko-KR" altLang="en-US" dirty="0"/>
              <a:t>의 구성 요소를 잠깐 보겠습니다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EDC16B-629F-71DF-D4A3-7299ED73E9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8C448-4B01-45DC-A693-05AA9EC75D23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91394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583C3-B017-2C98-AF03-E1E1900FB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F9F834-7A9A-A88E-9D72-249FA4945C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8DF82CD-B01A-7A95-379A-D617B32BEC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이 </a:t>
            </a:r>
            <a:r>
              <a:rPr lang="en-US" altLang="ko-KR" dirty="0"/>
              <a:t>DOM</a:t>
            </a:r>
            <a:r>
              <a:rPr lang="ko-KR" altLang="en-US" dirty="0"/>
              <a:t>이라는 구조로 변환되는 것처럼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dirty="0"/>
              <a:t>CSS</a:t>
            </a:r>
            <a:r>
              <a:rPr lang="ko-KR" altLang="en-US" dirty="0"/>
              <a:t>도 브라우저에 의해 </a:t>
            </a:r>
            <a:r>
              <a:rPr lang="en-US" altLang="ko-KR" dirty="0"/>
              <a:t>CSSOM</a:t>
            </a:r>
            <a:r>
              <a:rPr lang="ko-KR" altLang="en-US" dirty="0"/>
              <a:t>이라는 구조로 변환됩니다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CSSOM</a:t>
            </a:r>
            <a:r>
              <a:rPr lang="ko-KR" altLang="en-US" dirty="0"/>
              <a:t>은 각 요소에 어떤 스타일이 적용되는지를 담고 있는 </a:t>
            </a:r>
            <a:r>
              <a:rPr lang="ko-KR" altLang="en-US" dirty="0" err="1"/>
              <a:t>구조죠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CSSOM</a:t>
            </a:r>
            <a:r>
              <a:rPr lang="ko-KR" altLang="en-US" dirty="0"/>
              <a:t>의 특징은 스타일이 위에서 아래로 전파된다는 점입니다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예를 들어</a:t>
            </a:r>
            <a:r>
              <a:rPr lang="en-US" altLang="ko-KR" dirty="0"/>
              <a:t>, body</a:t>
            </a:r>
            <a:r>
              <a:rPr lang="ko-KR" altLang="en-US" dirty="0"/>
              <a:t>에 </a:t>
            </a:r>
            <a:r>
              <a:rPr lang="en-US" altLang="ko-KR" dirty="0"/>
              <a:t>font-size</a:t>
            </a:r>
            <a:r>
              <a:rPr lang="ko-KR" altLang="en-US" dirty="0"/>
              <a:t>가 </a:t>
            </a:r>
            <a:r>
              <a:rPr lang="en-US" altLang="ko-KR" dirty="0"/>
              <a:t>16px</a:t>
            </a:r>
            <a:r>
              <a:rPr lang="ko-KR" altLang="en-US" dirty="0"/>
              <a:t>로 설정되어 있으면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그 아래에 있는 </a:t>
            </a:r>
            <a:r>
              <a:rPr lang="en-US" altLang="ko-KR" dirty="0"/>
              <a:t>p</a:t>
            </a:r>
            <a:r>
              <a:rPr lang="ko-KR" altLang="en-US" dirty="0"/>
              <a:t>나 </a:t>
            </a:r>
            <a:r>
              <a:rPr lang="en-US" altLang="ko-KR" dirty="0"/>
              <a:t>span </a:t>
            </a:r>
            <a:r>
              <a:rPr lang="ko-KR" altLang="en-US" dirty="0"/>
              <a:t>같은 요소들도 기본적으로 이 값을 상속받게 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하지만 특정 요소에서 스타일을 다시 지정하면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그 요소의 스타일이 우선적으로 적용됩니다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</a:t>
            </a:r>
            <a:r>
              <a:rPr lang="en-US" altLang="ko-KR" dirty="0"/>
              <a:t>CSS</a:t>
            </a:r>
            <a:r>
              <a:rPr lang="ko-KR" altLang="en-US" dirty="0"/>
              <a:t>는 ‘</a:t>
            </a:r>
            <a:r>
              <a:rPr lang="en-US" altLang="ko-KR" dirty="0"/>
              <a:t>Cascading’, </a:t>
            </a:r>
            <a:r>
              <a:rPr lang="ko-KR" altLang="en-US" dirty="0"/>
              <a:t>즉 폭포처럼 위에서 아래로 흐르면서</a:t>
            </a:r>
            <a:br>
              <a:rPr lang="ko-KR" altLang="en-US" dirty="0"/>
            </a:br>
            <a:r>
              <a:rPr lang="ko-KR" altLang="en-US" dirty="0"/>
              <a:t>스타일이 적용된다고 표현합니다</a:t>
            </a:r>
            <a:r>
              <a:rPr lang="en-US" altLang="ko-KR" dirty="0"/>
              <a:t>.”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B6A843-F2F3-D9FF-A473-8409F531E0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8C448-4B01-45DC-A693-05AA9EC75D23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47736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E500D-0E72-E443-C7E3-B441F1A22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B7AC38-F27B-C99E-5BD2-183A1D429A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32A3D8-7CEC-580D-34AA-E2590C0EBF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이제 </a:t>
            </a:r>
            <a:r>
              <a:rPr lang="en-US" altLang="ko-KR" dirty="0"/>
              <a:t>DOM</a:t>
            </a:r>
            <a:r>
              <a:rPr lang="ko-KR" altLang="en-US" dirty="0"/>
              <a:t>과 </a:t>
            </a:r>
            <a:r>
              <a:rPr lang="en-US" altLang="ko-KR" dirty="0"/>
              <a:t>CSSOM</a:t>
            </a:r>
            <a:r>
              <a:rPr lang="ko-KR" altLang="en-US" dirty="0"/>
              <a:t>이 준비되면</a:t>
            </a:r>
            <a:r>
              <a:rPr lang="en-US" altLang="ko-KR" dirty="0"/>
              <a:t>, </a:t>
            </a:r>
            <a:r>
              <a:rPr lang="ko-KR" altLang="en-US" dirty="0"/>
              <a:t>이 두 가지를 합쳐서 </a:t>
            </a:r>
            <a:r>
              <a:rPr lang="en-US" altLang="ko-KR" dirty="0"/>
              <a:t>Render Tree</a:t>
            </a:r>
            <a:r>
              <a:rPr lang="ko-KR" altLang="en-US" dirty="0"/>
              <a:t>를 만들게 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DOM</a:t>
            </a:r>
            <a:r>
              <a:rPr lang="ko-KR" altLang="en-US" dirty="0"/>
              <a:t>은 구조를 나타내고</a:t>
            </a:r>
            <a:r>
              <a:rPr lang="en-US" altLang="ko-KR" dirty="0"/>
              <a:t>, CSSOM</a:t>
            </a:r>
            <a:r>
              <a:rPr lang="ko-KR" altLang="en-US" dirty="0"/>
              <a:t>은 스타일 정보를 담고 있기 때문에</a:t>
            </a:r>
            <a:r>
              <a:rPr lang="en-US" altLang="ko-KR" dirty="0"/>
              <a:t>, </a:t>
            </a:r>
            <a:r>
              <a:rPr lang="ko-KR" altLang="en-US" dirty="0"/>
              <a:t>이 둘이 결합되어 실제 화면에 그려질 요소들이 결정됩니다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중요한 점은</a:t>
            </a:r>
            <a:r>
              <a:rPr lang="en-US" altLang="ko-KR" dirty="0"/>
              <a:t>, Render Tree</a:t>
            </a:r>
            <a:r>
              <a:rPr lang="ko-KR" altLang="en-US" dirty="0"/>
              <a:t>에는 화면에 보이는 요소만 포함된다는 것입니다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예를 들어</a:t>
            </a:r>
            <a:r>
              <a:rPr lang="en-US" altLang="ko-KR" dirty="0"/>
              <a:t>, display: none</a:t>
            </a:r>
            <a:r>
              <a:rPr lang="ko-KR" altLang="en-US" dirty="0"/>
              <a:t>이 적용된 요소는 </a:t>
            </a:r>
            <a:r>
              <a:rPr lang="en-US" altLang="ko-KR" dirty="0"/>
              <a:t>DOM</a:t>
            </a:r>
            <a:r>
              <a:rPr lang="ko-KR" altLang="en-US" dirty="0"/>
              <a:t>에는 존재하지만</a:t>
            </a:r>
            <a:r>
              <a:rPr lang="en-US" altLang="ko-KR" dirty="0"/>
              <a:t>, </a:t>
            </a:r>
            <a:r>
              <a:rPr lang="ko-KR" altLang="en-US" dirty="0"/>
              <a:t>화면에 보이지 않기 때문에 </a:t>
            </a:r>
            <a:r>
              <a:rPr lang="en-US" altLang="ko-KR" dirty="0"/>
              <a:t>Render Tree</a:t>
            </a:r>
            <a:r>
              <a:rPr lang="ko-KR" altLang="en-US" dirty="0"/>
              <a:t>에는 포함되지 않습니다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 Render Tree</a:t>
            </a:r>
            <a:r>
              <a:rPr lang="ko-KR" altLang="en-US" dirty="0"/>
              <a:t>는 ‘</a:t>
            </a:r>
            <a:r>
              <a:rPr lang="ko-KR" altLang="en-US" b="1" dirty="0"/>
              <a:t>실제로 화면에 그려질 것들만 모아놓은 </a:t>
            </a:r>
            <a:r>
              <a:rPr lang="ko-KR" altLang="en-US" b="1" dirty="0" err="1"/>
              <a:t>구조</a:t>
            </a:r>
            <a:r>
              <a:rPr lang="ko-KR" altLang="en-US" dirty="0" err="1"/>
              <a:t>’라고</a:t>
            </a:r>
            <a:r>
              <a:rPr lang="ko-KR" altLang="en-US" dirty="0"/>
              <a:t> 볼 수 있습니다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FA9B68-2E87-5AF5-78CC-2CA71F6820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8C448-4B01-45DC-A693-05AA9EC75D2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7981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EBE05-01AE-AD14-8E13-581235143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A574318-64F6-9D38-0EFB-38B79F1460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708E8E-EF94-0B94-5415-96028F20FC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이렇게 만들어진 </a:t>
            </a:r>
            <a:r>
              <a:rPr lang="en-US" altLang="ko-KR" dirty="0"/>
              <a:t>Render Tree</a:t>
            </a:r>
            <a:r>
              <a:rPr lang="ko-KR" altLang="en-US" dirty="0"/>
              <a:t>를 기반으로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브라우저는 각 요소의 위치와 크기를 계산하는 </a:t>
            </a:r>
            <a:r>
              <a:rPr lang="en-US" altLang="ko-KR" dirty="0"/>
              <a:t>Layout </a:t>
            </a:r>
            <a:r>
              <a:rPr lang="ko-KR" altLang="en-US" dirty="0"/>
              <a:t>과정을 거치고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이후 픽셀 단위로 화면을 그리는 </a:t>
            </a:r>
            <a:r>
              <a:rPr lang="en-US" altLang="ko-KR" dirty="0"/>
              <a:t>Paint </a:t>
            </a:r>
            <a:r>
              <a:rPr lang="ko-KR" altLang="en-US" dirty="0"/>
              <a:t>단계를 수행하게 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마지막으로 여러 레이어를 합쳐 최종 화면을 완성합니다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하지만 문제는</a:t>
            </a:r>
            <a:r>
              <a:rPr lang="en-US" altLang="ko-KR" dirty="0"/>
              <a:t>, DOM</a:t>
            </a:r>
            <a:r>
              <a:rPr lang="ko-KR" altLang="en-US" dirty="0"/>
              <a:t>을 직접 조작하면 이 렌더링 과정이 반복되면서 성능에 영향을 줄 수 있다는 겁니다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그래서 이를 효율적으로 관리하기 위해 </a:t>
            </a:r>
            <a:r>
              <a:rPr lang="en-US" altLang="ko-KR" dirty="0"/>
              <a:t>React</a:t>
            </a:r>
            <a:r>
              <a:rPr lang="ko-KR" altLang="en-US" dirty="0"/>
              <a:t>와 같은 라이브러리가 등장하게 됩니다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1065B1-A0CA-2260-45F2-0B3514D154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8C448-4B01-45DC-A693-05AA9EC75D23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23715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751B9-927F-9BDE-2948-33FA43198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B458F78-3960-2516-B9DC-56CB5AE850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BF2FC5-048F-B4DF-F702-506BA620C2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는 </a:t>
            </a:r>
            <a:r>
              <a:rPr lang="en-US" altLang="ko-KR" dirty="0"/>
              <a:t>Meta</a:t>
            </a:r>
            <a:r>
              <a:rPr lang="ko-KR" altLang="en-US" dirty="0"/>
              <a:t>에서 만든 </a:t>
            </a:r>
            <a:r>
              <a:rPr lang="en-US" altLang="ko-KR" dirty="0"/>
              <a:t>JavaScript </a:t>
            </a:r>
            <a:r>
              <a:rPr lang="ko-KR" altLang="en-US" dirty="0"/>
              <a:t>라이브러리로</a:t>
            </a:r>
            <a:r>
              <a:rPr lang="en-US" altLang="ko-KR" dirty="0"/>
              <a:t>, </a:t>
            </a:r>
            <a:r>
              <a:rPr lang="ko-KR" altLang="en-US" dirty="0"/>
              <a:t>사용자 인터페이스를 효율적으로 만들기 위해 사용됩니다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기존 방식에서는 </a:t>
            </a:r>
            <a:r>
              <a:rPr lang="en-US" altLang="ko-K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getElementById</a:t>
            </a:r>
            <a:r>
              <a:rPr lang="ko-KR" altLang="en-US" dirty="0"/>
              <a:t> 같은 방법으로 </a:t>
            </a:r>
            <a:r>
              <a:rPr lang="en-US" altLang="ko-KR" dirty="0"/>
              <a:t>DOM</a:t>
            </a:r>
            <a:r>
              <a:rPr lang="ko-KR" altLang="en-US" dirty="0"/>
              <a:t>을 직접 찾고 수정해야 했습니다</a:t>
            </a:r>
            <a:r>
              <a:rPr lang="en-US" altLang="ko-KR" dirty="0"/>
              <a:t>.</a:t>
            </a:r>
          </a:p>
          <a:p>
            <a:br>
              <a:rPr lang="en-US" altLang="ko-KR" dirty="0"/>
            </a:br>
            <a:r>
              <a:rPr lang="ko-KR" altLang="en-US" dirty="0"/>
              <a:t>그런데 화면이 </a:t>
            </a:r>
            <a:r>
              <a:rPr lang="ko-KR" altLang="en-US" dirty="0" err="1"/>
              <a:t>복잡해질수록</a:t>
            </a:r>
            <a:r>
              <a:rPr lang="ko-KR" altLang="en-US" dirty="0"/>
              <a:t> 어떤 부분을 바꿔야 하는지 직접 관리하기 어려워지고</a:t>
            </a:r>
            <a:r>
              <a:rPr lang="en-US" altLang="ko-KR" dirty="0"/>
              <a:t>, DOM </a:t>
            </a:r>
            <a:r>
              <a:rPr lang="ko-KR" altLang="en-US" dirty="0"/>
              <a:t>변경이 많아지면 렌더링 비용도 커질 수 있습니다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React</a:t>
            </a:r>
            <a:r>
              <a:rPr lang="ko-KR" altLang="en-US" dirty="0"/>
              <a:t>는 이 문제를 해결하기 위해 </a:t>
            </a:r>
            <a:r>
              <a:rPr lang="en-US" altLang="ko-KR" dirty="0"/>
              <a:t>Virtual DOM</a:t>
            </a:r>
            <a:r>
              <a:rPr lang="ko-KR" altLang="en-US" dirty="0"/>
              <a:t>을 사용합니다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상태가 변경되면 실제 </a:t>
            </a:r>
            <a:r>
              <a:rPr lang="en-US" altLang="ko-KR" dirty="0"/>
              <a:t>DOM</a:t>
            </a:r>
            <a:r>
              <a:rPr lang="ko-KR" altLang="en-US" dirty="0"/>
              <a:t>을 바로 바꾸는 것이 아니라</a:t>
            </a:r>
            <a:r>
              <a:rPr lang="en-US" altLang="ko-KR" dirty="0"/>
              <a:t>, </a:t>
            </a:r>
            <a:r>
              <a:rPr lang="ko-KR" altLang="en-US" dirty="0"/>
              <a:t>먼저 </a:t>
            </a:r>
            <a:r>
              <a:rPr lang="en-US" altLang="ko-KR" dirty="0"/>
              <a:t>Virtual DOM</a:t>
            </a:r>
            <a:r>
              <a:rPr lang="ko-KR" altLang="en-US" dirty="0"/>
              <a:t>에서 변경된 부분을 계산합니다</a:t>
            </a:r>
            <a:r>
              <a:rPr lang="en-US" altLang="ko-KR" dirty="0"/>
              <a:t>.</a:t>
            </a:r>
          </a:p>
          <a:p>
            <a:br>
              <a:rPr lang="en-US" altLang="ko-KR" dirty="0"/>
            </a:br>
            <a:r>
              <a:rPr lang="ko-KR" altLang="en-US" dirty="0"/>
              <a:t>그리고 그 차이만 실제 </a:t>
            </a:r>
            <a:r>
              <a:rPr lang="en-US" altLang="ko-KR" dirty="0"/>
              <a:t>DOM</a:t>
            </a:r>
            <a:r>
              <a:rPr lang="ko-KR" altLang="en-US" dirty="0"/>
              <a:t>에 반영합니다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</a:t>
            </a:r>
            <a:r>
              <a:rPr lang="en-US" altLang="ko-KR" dirty="0"/>
              <a:t>React</a:t>
            </a:r>
            <a:r>
              <a:rPr lang="ko-KR" altLang="en-US" dirty="0"/>
              <a:t>는 복잡한 </a:t>
            </a:r>
            <a:r>
              <a:rPr lang="en-US" altLang="ko-KR" dirty="0"/>
              <a:t>UI</a:t>
            </a:r>
            <a:r>
              <a:rPr lang="ko-KR" altLang="en-US" dirty="0"/>
              <a:t>를 더 효율적이고 구조적으로 관리할 수 있게 해줍니다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3C9320-D83F-0CAA-11B2-1F1C1618C2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8C448-4B01-45DC-A693-05AA9EC75D23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02729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B0DDF-93A0-B456-75D3-DEFD505ED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AB7540-A3BC-1999-C830-06ECE0608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FC342BE-CD78-5F6A-BAE7-A46754B44A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그럼 이런 기술들이 실제로도 많이 사용될까요</a:t>
            </a:r>
            <a:r>
              <a:rPr lang="en-US" altLang="ko-KR" dirty="0"/>
              <a:t>? </a:t>
            </a:r>
            <a:r>
              <a:rPr lang="ko-KR" altLang="en-US" dirty="0"/>
              <a:t>웹 개발 시 실제 개발자들이 사용하는 기술들을 한번 살펴보겠습니다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이 자료는 </a:t>
            </a:r>
            <a:r>
              <a:rPr lang="en-US" altLang="ko-KR" dirty="0"/>
              <a:t>2025</a:t>
            </a:r>
            <a:r>
              <a:rPr lang="ko-KR" altLang="en-US" dirty="0"/>
              <a:t>년 </a:t>
            </a:r>
            <a:r>
              <a:rPr lang="en-US" altLang="ko-KR" dirty="0"/>
              <a:t>Stack Overflow </a:t>
            </a:r>
            <a:r>
              <a:rPr lang="ko-KR" altLang="en-US" dirty="0"/>
              <a:t>개발자 설문조사 결과입니다</a:t>
            </a:r>
            <a:r>
              <a:rPr lang="en-US" altLang="ko-KR" dirty="0"/>
              <a:t>. </a:t>
            </a:r>
            <a:r>
              <a:rPr lang="ko-KR" altLang="en-US" dirty="0"/>
              <a:t>왼쪽 그래프를 보면 </a:t>
            </a:r>
            <a:r>
              <a:rPr lang="en-US" altLang="ko-KR" dirty="0"/>
              <a:t>Node.js</a:t>
            </a:r>
            <a:r>
              <a:rPr lang="ko-KR" altLang="en-US" dirty="0"/>
              <a:t>와 </a:t>
            </a:r>
            <a:r>
              <a:rPr lang="en-US" altLang="ko-KR" dirty="0"/>
              <a:t>React</a:t>
            </a:r>
            <a:r>
              <a:rPr lang="ko-KR" altLang="en-US" dirty="0"/>
              <a:t>가 상위권에 위치해 있고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dirty="0"/>
              <a:t>Next.js</a:t>
            </a:r>
            <a:r>
              <a:rPr lang="ko-KR" altLang="en-US" dirty="0"/>
              <a:t>나 </a:t>
            </a:r>
            <a:r>
              <a:rPr lang="en-US" altLang="ko-KR" dirty="0"/>
              <a:t>Vue </a:t>
            </a:r>
            <a:r>
              <a:rPr lang="ko-KR" altLang="en-US" dirty="0"/>
              <a:t>같은 프레임워크들도 많이 사용되고 있는 것을 확인할 수 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오른쪽 그래프를 보면</a:t>
            </a:r>
            <a:r>
              <a:rPr lang="en-US" altLang="ko-KR" dirty="0"/>
              <a:t>, </a:t>
            </a:r>
            <a:r>
              <a:rPr lang="ko-KR" altLang="en-US" dirty="0"/>
              <a:t>개발자들이 어떤 기술을 함께 사용하는지 흐름을 보여줍니다</a:t>
            </a:r>
            <a:r>
              <a:rPr lang="en-US" altLang="ko-KR" dirty="0"/>
              <a:t>. Node.js</a:t>
            </a:r>
            <a:r>
              <a:rPr lang="ko-KR" altLang="en-US" dirty="0"/>
              <a:t>를 사용하는 개발자들이 </a:t>
            </a:r>
            <a:r>
              <a:rPr lang="en-US" altLang="ko-KR" dirty="0"/>
              <a:t>React</a:t>
            </a:r>
            <a:r>
              <a:rPr lang="ko-KR" altLang="en-US" dirty="0"/>
              <a:t>를 많이 사용하고</a:t>
            </a:r>
            <a:r>
              <a:rPr lang="en-US" altLang="ko-KR" dirty="0"/>
              <a:t>, </a:t>
            </a:r>
            <a:r>
              <a:rPr lang="ko-KR" altLang="en-US" dirty="0"/>
              <a:t>그 위에서 </a:t>
            </a:r>
            <a:r>
              <a:rPr lang="en-US" altLang="ko-KR" dirty="0"/>
              <a:t>Next.js </a:t>
            </a:r>
            <a:r>
              <a:rPr lang="ko-KR" altLang="en-US" dirty="0"/>
              <a:t>같은 프레임워크로 확장하는 경향을 볼 수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여기서 </a:t>
            </a:r>
            <a:r>
              <a:rPr lang="en-US" altLang="ko-KR" dirty="0"/>
              <a:t>Node.js</a:t>
            </a:r>
            <a:r>
              <a:rPr lang="ko-KR" altLang="en-US" dirty="0"/>
              <a:t>나 </a:t>
            </a:r>
            <a:r>
              <a:rPr lang="en-US" altLang="ko-KR" dirty="0"/>
              <a:t>Next.js </a:t>
            </a:r>
            <a:r>
              <a:rPr lang="ko-KR" altLang="en-US" dirty="0"/>
              <a:t>같은 기술들은 순수 </a:t>
            </a:r>
            <a:r>
              <a:rPr lang="ko-KR" altLang="en-US" dirty="0" err="1"/>
              <a:t>프론트엔드</a:t>
            </a:r>
            <a:r>
              <a:rPr lang="ko-KR" altLang="en-US" dirty="0"/>
              <a:t> </a:t>
            </a:r>
            <a:r>
              <a:rPr lang="ko-KR" altLang="en-US" dirty="0" err="1"/>
              <a:t>기술이라기보다는</a:t>
            </a:r>
            <a:r>
              <a:rPr lang="ko-KR" altLang="en-US" dirty="0"/>
              <a:t> 서버 기능을 포함하거나 함께 사용하는 기술입니다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하지만 실제 개발에서는 </a:t>
            </a:r>
            <a:r>
              <a:rPr lang="ko-KR" altLang="en-US" dirty="0" err="1"/>
              <a:t>프론트엔드와</a:t>
            </a:r>
            <a:r>
              <a:rPr lang="ko-KR" altLang="en-US" dirty="0"/>
              <a:t> 함께 사용되는 경우가 많기 때문에</a:t>
            </a:r>
            <a:r>
              <a:rPr lang="en-US" altLang="ko-KR" dirty="0"/>
              <a:t>, </a:t>
            </a:r>
            <a:r>
              <a:rPr lang="ko-KR" altLang="en-US" dirty="0"/>
              <a:t>전체적인 웹 개발 흐름에서 중요한 역할을 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여기서 중요한 점은</a:t>
            </a:r>
            <a:r>
              <a:rPr lang="en-US" altLang="ko-KR" dirty="0"/>
              <a:t>, </a:t>
            </a:r>
            <a:r>
              <a:rPr lang="ko-KR" altLang="en-US" dirty="0"/>
              <a:t>하나의 기술만 사용하는 것이 아니라 여러 기술을 조합해서 사용한다는 것입니다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지금은 </a:t>
            </a:r>
            <a:r>
              <a:rPr lang="en-US" altLang="ko-KR" dirty="0"/>
              <a:t>React</a:t>
            </a:r>
            <a:r>
              <a:rPr lang="ko-KR" altLang="en-US" dirty="0"/>
              <a:t>까지 이해하는 것이 목표지만</a:t>
            </a:r>
            <a:r>
              <a:rPr lang="en-US" altLang="ko-KR" dirty="0"/>
              <a:t>, </a:t>
            </a:r>
            <a:r>
              <a:rPr lang="ko-KR" altLang="en-US" dirty="0"/>
              <a:t>이후에는 </a:t>
            </a:r>
            <a:r>
              <a:rPr lang="en-US" altLang="ko-KR" dirty="0"/>
              <a:t>Next.js </a:t>
            </a:r>
            <a:r>
              <a:rPr lang="ko-KR" altLang="en-US" dirty="0"/>
              <a:t>같은 프레임워크를 통해 더 실무적인 개발을 하게 되고</a:t>
            </a:r>
            <a:r>
              <a:rPr lang="en-US" altLang="ko-KR" dirty="0"/>
              <a:t>, Node.js</a:t>
            </a:r>
            <a:r>
              <a:rPr lang="ko-KR" altLang="en-US" dirty="0"/>
              <a:t>를 통해 서버까지 다루는 방향으로 확장할 수 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즉</a:t>
            </a:r>
            <a:r>
              <a:rPr lang="en-US" altLang="ko-KR" dirty="0"/>
              <a:t>, HTML, CSS, JavaScript</a:t>
            </a:r>
            <a:r>
              <a:rPr lang="ko-KR" altLang="en-US" dirty="0"/>
              <a:t>로 시작해서 </a:t>
            </a:r>
            <a:r>
              <a:rPr lang="en-US" altLang="ko-KR" dirty="0"/>
              <a:t>React</a:t>
            </a:r>
            <a:r>
              <a:rPr lang="ko-KR" altLang="en-US" dirty="0"/>
              <a:t>를 거쳐</a:t>
            </a:r>
            <a:r>
              <a:rPr lang="en-US" altLang="ko-KR" dirty="0"/>
              <a:t>, </a:t>
            </a:r>
            <a:r>
              <a:rPr lang="ko-KR" altLang="en-US" dirty="0"/>
              <a:t>더 나아가 다양한 기술로 확장해 나가게 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지금 배우는 기본 개념들이 앞으로 더 큰 기술로 이어지는 기반이 된다고 볼 수 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Node.js: </a:t>
            </a:r>
            <a:r>
              <a:rPr lang="ko-KR" altLang="en-US" b="1" dirty="0"/>
              <a:t>브라우저 밖</a:t>
            </a:r>
            <a:r>
              <a:rPr lang="en-US" altLang="ko-KR" b="1" dirty="0"/>
              <a:t>(</a:t>
            </a:r>
            <a:r>
              <a:rPr lang="ko-KR" altLang="en-US" b="1" dirty="0"/>
              <a:t>서버</a:t>
            </a:r>
            <a:r>
              <a:rPr lang="en-US" altLang="ko-KR" b="1" dirty="0"/>
              <a:t>)</a:t>
            </a:r>
            <a:r>
              <a:rPr lang="ko-KR" altLang="en-US" b="1" dirty="0"/>
              <a:t>에서도 </a:t>
            </a:r>
            <a:r>
              <a:rPr lang="en-US" altLang="ko-KR" b="1" dirty="0"/>
              <a:t>JavaScript</a:t>
            </a:r>
            <a:r>
              <a:rPr lang="ko-KR" altLang="en-US" b="1" dirty="0"/>
              <a:t>를 실행할 수 있게 해주는 런타임</a:t>
            </a:r>
            <a:endParaRPr lang="en-US" altLang="ko-KR" b="1" dirty="0"/>
          </a:p>
          <a:p>
            <a:r>
              <a:rPr lang="en-US" altLang="ko-KR" dirty="0"/>
              <a:t>Next.js: </a:t>
            </a:r>
            <a:r>
              <a:rPr lang="en-US" altLang="ko-KR" b="1" dirty="0"/>
              <a:t>React </a:t>
            </a:r>
            <a:r>
              <a:rPr lang="ko-KR" altLang="en-US" b="1" dirty="0"/>
              <a:t>기반으로 서버 기능과 렌더링까지 함께 제공하는 </a:t>
            </a:r>
            <a:r>
              <a:rPr lang="ko-KR" altLang="en-US" b="1" dirty="0" err="1"/>
              <a:t>풀스택</a:t>
            </a:r>
            <a:r>
              <a:rPr lang="ko-KR" altLang="en-US" b="1" dirty="0"/>
              <a:t> 프레임워크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1B5E17-E27A-3860-FA6C-7802038EAA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8C448-4B01-45DC-A693-05AA9EC75D23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25792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6DAF6-FDDE-10E9-82ED-E522610A3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C85F351-1A2C-71CE-9981-7634F862A6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3CA62B8-4F1D-7BA4-07FF-B3B1547DB4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오늘 내용을 간단히 정리해보면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 err="1"/>
              <a:t>프론트엔드는</a:t>
            </a:r>
            <a:r>
              <a:rPr lang="ko-KR" altLang="en-US" dirty="0"/>
              <a:t> 사용자가 직접 사용하는 화면을 만드는 영역이고</a:t>
            </a:r>
            <a:r>
              <a:rPr lang="en-US" altLang="ko-KR" dirty="0"/>
              <a:t>, HTML, CSS, JavaScript</a:t>
            </a:r>
            <a:r>
              <a:rPr lang="ko-KR" altLang="en-US" dirty="0"/>
              <a:t>를 기반으로 동작합니다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/>
              <a:t>그리고 브라우저는 이 코드를 해석해서 </a:t>
            </a:r>
            <a:r>
              <a:rPr lang="en-US" altLang="ko-KR" dirty="0"/>
              <a:t>DOM</a:t>
            </a:r>
            <a:r>
              <a:rPr lang="ko-KR" altLang="en-US" dirty="0"/>
              <a:t>과 </a:t>
            </a:r>
            <a:r>
              <a:rPr lang="en-US" altLang="ko-KR" dirty="0"/>
              <a:t>CSSOM</a:t>
            </a:r>
            <a:r>
              <a:rPr lang="ko-KR" altLang="en-US" dirty="0"/>
              <a:t>을 만들고</a:t>
            </a:r>
            <a:r>
              <a:rPr lang="en-US" altLang="ko-KR" dirty="0"/>
              <a:t>, Render Tree</a:t>
            </a:r>
            <a:r>
              <a:rPr lang="ko-KR" altLang="en-US" dirty="0"/>
              <a:t>를 통해 화면을 그리게 됩니다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이 과정에서 </a:t>
            </a:r>
            <a:r>
              <a:rPr lang="en-US" altLang="ko-KR" dirty="0"/>
              <a:t>DOM</a:t>
            </a:r>
            <a:r>
              <a:rPr lang="ko-KR" altLang="en-US" dirty="0"/>
              <a:t>을 직접 조작하면 렌더링이 반복되면서 성능 문제가 발생할 수 있고</a:t>
            </a:r>
            <a:r>
              <a:rPr lang="en-US" altLang="ko-KR" dirty="0"/>
              <a:t>, </a:t>
            </a:r>
            <a:r>
              <a:rPr lang="ko-KR" altLang="en-US" dirty="0"/>
              <a:t>이를 해결하기 위해 </a:t>
            </a:r>
            <a:r>
              <a:rPr lang="en-US" altLang="ko-KR" dirty="0"/>
              <a:t>React</a:t>
            </a:r>
            <a:r>
              <a:rPr lang="ko-KR" altLang="en-US" dirty="0"/>
              <a:t>와 같은 라이브러리가 등장하게 됩니다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en-US" altLang="ko-KR" dirty="0"/>
              <a:t>React</a:t>
            </a:r>
            <a:r>
              <a:rPr lang="ko-KR" altLang="en-US" dirty="0"/>
              <a:t>는 </a:t>
            </a:r>
            <a:r>
              <a:rPr lang="en-US" altLang="ko-KR" dirty="0"/>
              <a:t>Virtual DOM</a:t>
            </a:r>
            <a:r>
              <a:rPr lang="ko-KR" altLang="en-US" dirty="0"/>
              <a:t>을 사용해서 변경된 부분만 효율적으로 업데이트합니다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/>
              <a:t>그리고 실제 개발에서는 </a:t>
            </a:r>
            <a:r>
              <a:rPr lang="en-US" altLang="ko-KR" dirty="0"/>
              <a:t>React</a:t>
            </a:r>
            <a:r>
              <a:rPr lang="ko-KR" altLang="en-US" dirty="0"/>
              <a:t>뿐만 아니라</a:t>
            </a:r>
            <a:r>
              <a:rPr lang="en-US" altLang="ko-KR" dirty="0"/>
              <a:t>Next.js</a:t>
            </a:r>
            <a:r>
              <a:rPr lang="ko-KR" altLang="en-US" dirty="0"/>
              <a:t>나 </a:t>
            </a:r>
            <a:r>
              <a:rPr lang="en-US" altLang="ko-KR" dirty="0"/>
              <a:t>Node.js </a:t>
            </a:r>
            <a:r>
              <a:rPr lang="ko-KR" altLang="en-US" dirty="0"/>
              <a:t>같은 기술로 확장하면서 더 큰 구조의 웹 애플리케이션을 만들게 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그래서 지금 배우는 </a:t>
            </a:r>
            <a:r>
              <a:rPr lang="en-US" altLang="ko-KR" dirty="0"/>
              <a:t>HTML, CSS, JavaScript</a:t>
            </a:r>
            <a:r>
              <a:rPr lang="ko-KR" altLang="en-US" dirty="0"/>
              <a:t>는 단순한 시작이 아니라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앞으로 더 큰 기술로 나아가기 위한 기반이라고 볼 수 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오늘은 이 전체 흐름을 이해하는 데 초점을 맞춰서 발표 진행해봤습니다</a:t>
            </a:r>
            <a:r>
              <a:rPr lang="en-US" altLang="ko-KR" dirty="0"/>
              <a:t>.. </a:t>
            </a:r>
            <a:r>
              <a:rPr lang="ko-KR" altLang="en-US" dirty="0"/>
              <a:t>감사합니다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29A748-0755-4455-3084-A7486D0DCD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8C448-4B01-45DC-A693-05AA9EC75D23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63335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87FB1-9348-4B8F-6532-2AB6D93A5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C6E042-0CC2-DB28-0864-1F087F2EBF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C52D96-093C-7211-C910-AE974F8D9A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B18D7-60BC-0D5E-0550-BCE4BE8C54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8C448-4B01-45DC-A693-05AA9EC75D23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29010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D18472-AF16-F8A0-4805-A4CAE79B09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6602FB4-9F47-6C74-3D89-B8C0322826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2911AC-8AF0-7C27-E4E4-844AE5646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85DFA-902D-4C80-9A31-E7AC8CC5CB1F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51200B-0567-840B-C9A2-566E4164C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B2F9BB-7F15-D1C6-E7A2-8AC138701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6550D-21A4-4798-A82C-40C5DA92D2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32906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4975A3-0167-E200-9602-0A3C3AC8E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37D266-4D75-8CE1-3FBB-AA3BAC3EDD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8F0C40-F8FE-6C9A-118E-F8D1C9370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85DFA-902D-4C80-9A31-E7AC8CC5CB1F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73C09B-6F70-A7EC-37ED-499036E3A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6EE144-1C9C-803E-25DA-93AF6F130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6550D-21A4-4798-A82C-40C5DA92D2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800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FE98B8-FB79-13B1-ED78-701B6D7E4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99C38C-D49F-75D7-C89C-7ACC973BD8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5918CB0-D617-D28D-24A4-35DA1B9E7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85DFA-902D-4C80-9A31-E7AC8CC5CB1F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F59B1C-E96F-EC92-2C2A-6E7F6F80C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0AE1489-4FB2-AD55-FD8E-F5D379ECD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6550D-21A4-4798-A82C-40C5DA92D2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31434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2DCC8E-3AFF-1E82-9559-60AC9F788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72E9FD-2A38-7898-A6C3-A5C54FA5A0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0F4D1-4430-7572-76C5-52AEC99D39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65A4AB-D3B6-238F-C4B1-64F516FEA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85DFA-902D-4C80-9A31-E7AC8CC5CB1F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F0E28F-1F85-35D6-8961-154AD16B7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EFA8892-921F-7359-EBE4-F70841894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6550D-21A4-4798-A82C-40C5DA92D2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69881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F9FF6B-74C8-DB9A-383C-23D2036FA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AC7DB05-371D-CF86-7530-57D4633DD5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A53B3C3-36CD-402D-E474-D488ED665B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EFA4E50-5F9F-8141-CE41-BF87EB5DB5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6E5AE84-3175-40E0-E3AD-57E024F3E1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9190A46-797A-E775-734F-D15AC8624E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85DFA-902D-4C80-9A31-E7AC8CC5CB1F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0CF048D-2E2A-9166-88AA-629AF143C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C8CF8E5-820F-4931-16D9-68D7D5A54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6550D-21A4-4798-A82C-40C5DA92D2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5618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974144-A625-BE0C-CB04-735C5CC51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1A5CA6B-9447-CCB1-689C-9506FD265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85DFA-902D-4C80-9A31-E7AC8CC5CB1F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5C0E809-0310-A352-54E7-19AF5620A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500D22D-2E7C-3F63-BEEC-2DFD87662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6550D-21A4-4798-A82C-40C5DA92D2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4824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2618E24-06E5-111B-B5EC-48097D1DA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85DFA-902D-4C80-9A31-E7AC8CC5CB1F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BB6F927-3955-41AC-313F-D0F8C90E7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0D6110-3621-265E-15EA-461CB8B81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6550D-21A4-4798-A82C-40C5DA92D2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0213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46F501-4DF1-C12F-D006-B17E16ED5B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775C19-2B52-CDAB-0F94-F1EE8F5B49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7559140-5D4E-2A27-BBC4-6D5B954BDD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D767638-E308-2B66-E8FD-AE5E05E54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85DFA-902D-4C80-9A31-E7AC8CC5CB1F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22751FA-2DD8-8F5C-3774-E53D574A8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507F9E5-3BDE-D906-8186-7D0F15541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6550D-21A4-4798-A82C-40C5DA92D2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855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D5054-29D7-9B96-9B5B-3ECCA5773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F4F5CC0-2DB7-64FC-BC21-82C5D380E1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8BF9D10-048C-A0C3-6A86-4B0DD507B7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9AC9CE-7330-2C54-16D3-5EFF18C34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85DFA-902D-4C80-9A31-E7AC8CC5CB1F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B653EF-4394-F517-CA69-AA40FD905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5125F5-FFCA-BB24-0B6B-B7C4CF574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6550D-21A4-4798-A82C-40C5DA92D2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86241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9A5DE6-13DB-BFFC-D5E9-C677513EE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42CA0E3-B506-ED77-E439-7CB3EB1C06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339AA9-F94D-9FEE-C8C6-92389CAD2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85DFA-902D-4C80-9A31-E7AC8CC5CB1F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12683F-C4E8-728F-A285-1247727EF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9536B1-2672-9038-A3D6-B91C7D396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6550D-21A4-4798-A82C-40C5DA92D2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278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D09BABD-F2B6-850E-F2C2-09B1806FDE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D89B0F5-9265-DB1F-27FC-894BFDB37E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09FB03-01AE-41D7-FE68-2FC8041BB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85DFA-902D-4C80-9A31-E7AC8CC5CB1F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5C3B847-BBCE-8F43-735D-80E7E63B0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3B74A5-B5C0-A070-17AA-A3E05C95F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6550D-21A4-4798-A82C-40C5DA92D2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776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A243CD2-72CE-25F0-C4A8-1BABCD900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DD9DC67-6B9E-1F1E-1FAF-BADB47FF81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34BA33-A704-6128-7D5A-9414C59018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F85DFA-902D-4C80-9A31-E7AC8CC5CB1F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B976430-BCA4-8D40-3E3E-E3A38DEDB4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BB2E9E-0DFD-1E57-0900-AE69B65B83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66550D-21A4-4798-A82C-40C5DA92D2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61153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reepngimg.com/png/31744-coder-transparent-image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07Lppn7UdIs&amp;t=1s&amp;pp=ygUK7JaE7L2UIGRvbdIHCQnUCgGHKiGM7w%3D%3D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1ojA5mLWts8&amp;pp=ygUK7JaE7L2UIGRvbQ%3D%3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3E3AC-0C06-ED5F-0067-EA8E1257FB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41400"/>
            <a:ext cx="9144000" cy="2387600"/>
          </a:xfrm>
        </p:spPr>
        <p:txBody>
          <a:bodyPr>
            <a:normAutofit/>
          </a:bodyPr>
          <a:lstStyle/>
          <a:p>
            <a:r>
              <a:rPr lang="ko-KR" altLang="en-US" b="1" dirty="0" err="1"/>
              <a:t>프론트엔드</a:t>
            </a:r>
            <a:r>
              <a:rPr lang="ko-KR" altLang="en-US" b="1" dirty="0"/>
              <a:t> 트랙</a:t>
            </a:r>
            <a:br>
              <a:rPr lang="en-US" altLang="ko-KR" b="1" dirty="0"/>
            </a:br>
            <a:r>
              <a:rPr lang="en-US" altLang="ko-KR" b="1" dirty="0"/>
              <a:t>2</a:t>
            </a:r>
            <a:r>
              <a:rPr lang="ko-KR" altLang="en-US" b="1" dirty="0"/>
              <a:t>주차 학습 발표</a:t>
            </a:r>
            <a:endParaRPr lang="ko-KR" altLang="en-US" b="1" dirty="0"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7A7C6D-0A12-6447-FD99-5201153C3061}"/>
              </a:ext>
            </a:extLst>
          </p:cNvPr>
          <p:cNvSpPr txBox="1"/>
          <p:nvPr/>
        </p:nvSpPr>
        <p:spPr>
          <a:xfrm>
            <a:off x="2728451" y="3755865"/>
            <a:ext cx="6735097" cy="523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2800" dirty="0" err="1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프론트엔드</a:t>
            </a:r>
            <a:r>
              <a:rPr lang="ko-KR" altLang="en-US" sz="2800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 개발 </a:t>
            </a:r>
            <a:r>
              <a:rPr lang="en-US" altLang="ko-KR" sz="2800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: HTML</a:t>
            </a:r>
            <a:r>
              <a:rPr lang="ko-KR" altLang="en-US" sz="2800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부터 </a:t>
            </a:r>
            <a:r>
              <a:rPr lang="ko-KR" altLang="en-US" sz="2800" dirty="0" err="1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리액트까지</a:t>
            </a:r>
            <a:endParaRPr lang="ko-KR" altLang="en-US" sz="2800" dirty="0"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3B198D-F65D-2703-60F4-089041DB98A3}"/>
              </a:ext>
            </a:extLst>
          </p:cNvPr>
          <p:cNvSpPr txBox="1"/>
          <p:nvPr/>
        </p:nvSpPr>
        <p:spPr>
          <a:xfrm>
            <a:off x="5550309" y="5794631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2800" b="1" dirty="0">
                <a:effectLst/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발표자 </a:t>
            </a:r>
            <a:r>
              <a:rPr lang="en-US" altLang="ko-KR" sz="2800" b="1" dirty="0">
                <a:effectLst/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: </a:t>
            </a:r>
            <a:r>
              <a:rPr lang="ko-KR" altLang="en-US" sz="2800" b="1" dirty="0">
                <a:effectLst/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이효빈</a:t>
            </a:r>
            <a:endParaRPr lang="ko-KR" altLang="en-US" sz="2800" dirty="0"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232829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B302019-586C-E315-4018-4F177B00EB0C}"/>
              </a:ext>
            </a:extLst>
          </p:cNvPr>
          <p:cNvSpPr txBox="1"/>
          <p:nvPr/>
        </p:nvSpPr>
        <p:spPr>
          <a:xfrm>
            <a:off x="511278" y="481781"/>
            <a:ext cx="24208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 err="1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프론트엔드</a:t>
            </a:r>
            <a:endParaRPr lang="ko-KR" altLang="en-US" sz="3600" b="1" dirty="0"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CFD2B0-5E21-57E2-05BB-0C6839F2D512}"/>
              </a:ext>
            </a:extLst>
          </p:cNvPr>
          <p:cNvSpPr txBox="1"/>
          <p:nvPr/>
        </p:nvSpPr>
        <p:spPr>
          <a:xfrm>
            <a:off x="511277" y="1318822"/>
            <a:ext cx="102648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프론트엔드는</a:t>
            </a:r>
            <a:r>
              <a:rPr lang="ko-KR" altLang="en-US" dirty="0"/>
              <a:t> 사용자가 직접 사용하는 화면</a:t>
            </a:r>
            <a:r>
              <a:rPr lang="en-US" altLang="ko-KR" dirty="0"/>
              <a:t>, </a:t>
            </a:r>
            <a:r>
              <a:rPr lang="ko-KR" altLang="en-US" dirty="0"/>
              <a:t>인터페이스를 만드는 영역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4BA95B2F-B32C-DAA2-8BFE-1214EB7F52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001231" y="3222521"/>
            <a:ext cx="1133169" cy="113316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5382676-ADDC-6428-5808-ABDCF380DBEA}"/>
              </a:ext>
            </a:extLst>
          </p:cNvPr>
          <p:cNvSpPr txBox="1"/>
          <p:nvPr/>
        </p:nvSpPr>
        <p:spPr>
          <a:xfrm>
            <a:off x="511277" y="4355690"/>
            <a:ext cx="2113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프론트엔드</a:t>
            </a:r>
            <a:r>
              <a:rPr lang="ko-KR" altLang="en-US" dirty="0"/>
              <a:t> 개발자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3F32EB87-D3B9-E46B-13F9-1708C0704C74}"/>
              </a:ext>
            </a:extLst>
          </p:cNvPr>
          <p:cNvSpPr/>
          <p:nvPr/>
        </p:nvSpPr>
        <p:spPr>
          <a:xfrm>
            <a:off x="6435184" y="2081980"/>
            <a:ext cx="4247595" cy="104221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디자인 적용 </a:t>
            </a:r>
            <a:r>
              <a:rPr lang="en-US" altLang="ko-KR" sz="1600" dirty="0">
                <a:solidFill>
                  <a:schemeClr val="tx1"/>
                </a:solidFill>
              </a:rPr>
              <a:t>/ </a:t>
            </a:r>
            <a:r>
              <a:rPr lang="ko-KR" altLang="en-US" sz="1600" dirty="0">
                <a:solidFill>
                  <a:schemeClr val="tx1"/>
                </a:solidFill>
              </a:rPr>
              <a:t>레이아웃 구성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658B4DD8-6EF0-B8AB-7AF7-5ECD7D60C9C5}"/>
              </a:ext>
            </a:extLst>
          </p:cNvPr>
          <p:cNvSpPr/>
          <p:nvPr/>
        </p:nvSpPr>
        <p:spPr>
          <a:xfrm>
            <a:off x="6435184" y="3529779"/>
            <a:ext cx="4247595" cy="104221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버튼클릭</a:t>
            </a:r>
            <a:r>
              <a:rPr lang="en-US" altLang="ko-KR" sz="1600" dirty="0">
                <a:solidFill>
                  <a:schemeClr val="tx1"/>
                </a:solidFill>
              </a:rPr>
              <a:t> / </a:t>
            </a:r>
            <a:r>
              <a:rPr lang="ko-KR" altLang="en-US" sz="1600" dirty="0">
                <a:solidFill>
                  <a:schemeClr val="tx1"/>
                </a:solidFill>
              </a:rPr>
              <a:t>로그인 입력 </a:t>
            </a:r>
            <a:r>
              <a:rPr lang="en-US" altLang="ko-KR" sz="1600" dirty="0">
                <a:solidFill>
                  <a:schemeClr val="tx1"/>
                </a:solidFill>
              </a:rPr>
              <a:t>/ </a:t>
            </a:r>
            <a:r>
              <a:rPr lang="ko-KR" altLang="en-US" sz="1600" dirty="0">
                <a:solidFill>
                  <a:schemeClr val="tx1"/>
                </a:solidFill>
              </a:rPr>
              <a:t>폼 데이터 처리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DA96BD5A-7868-1199-76FD-2AD89CC84981}"/>
              </a:ext>
            </a:extLst>
          </p:cNvPr>
          <p:cNvSpPr/>
          <p:nvPr/>
        </p:nvSpPr>
        <p:spPr>
          <a:xfrm>
            <a:off x="6435184" y="4977578"/>
            <a:ext cx="4247595" cy="104221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데이터 받아오기 </a:t>
            </a:r>
            <a:r>
              <a:rPr lang="en-US" altLang="ko-KR" sz="1600" dirty="0">
                <a:solidFill>
                  <a:schemeClr val="tx1"/>
                </a:solidFill>
              </a:rPr>
              <a:t>– </a:t>
            </a:r>
            <a:r>
              <a:rPr lang="ko-KR" altLang="en-US" sz="1600" dirty="0">
                <a:solidFill>
                  <a:schemeClr val="tx1"/>
                </a:solidFill>
              </a:rPr>
              <a:t>화면에 출력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1883F2-A940-2F6A-F4A6-C3981CF1FB87}"/>
              </a:ext>
            </a:extLst>
          </p:cNvPr>
          <p:cNvSpPr txBox="1"/>
          <p:nvPr/>
        </p:nvSpPr>
        <p:spPr>
          <a:xfrm>
            <a:off x="3452916" y="3866222"/>
            <a:ext cx="21403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- </a:t>
            </a:r>
            <a:r>
              <a:rPr lang="ko-KR" altLang="en-US" b="1" dirty="0"/>
              <a:t>사용자 입력 처리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764AE5-264D-CE79-6B6A-83D8B2ABF5B1}"/>
              </a:ext>
            </a:extLst>
          </p:cNvPr>
          <p:cNvSpPr txBox="1"/>
          <p:nvPr/>
        </p:nvSpPr>
        <p:spPr>
          <a:xfrm>
            <a:off x="3409733" y="2418423"/>
            <a:ext cx="25394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- </a:t>
            </a:r>
            <a:r>
              <a:rPr lang="ko-KR" altLang="en-US" b="1" dirty="0"/>
              <a:t>화면 구성</a:t>
            </a:r>
            <a:r>
              <a:rPr lang="en-US" altLang="ko-KR" b="1" dirty="0"/>
              <a:t> (</a:t>
            </a:r>
            <a:r>
              <a:rPr lang="ko-KR" altLang="en-US" b="1" dirty="0"/>
              <a:t>스타일링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A0C9C9D-A478-AEAE-9F93-67A50736EC3E}"/>
              </a:ext>
            </a:extLst>
          </p:cNvPr>
          <p:cNvSpPr txBox="1"/>
          <p:nvPr/>
        </p:nvSpPr>
        <p:spPr>
          <a:xfrm>
            <a:off x="3452916" y="5354512"/>
            <a:ext cx="15969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- </a:t>
            </a:r>
            <a:r>
              <a:rPr lang="ko-KR" altLang="en-US" b="1" dirty="0"/>
              <a:t>서버와 통신</a:t>
            </a:r>
          </a:p>
        </p:txBody>
      </p:sp>
    </p:spTree>
    <p:extLst>
      <p:ext uri="{BB962C8B-B14F-4D97-AF65-F5344CB8AC3E}">
        <p14:creationId xmlns:p14="http://schemas.microsoft.com/office/powerpoint/2010/main" val="37971017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836112F-F84E-64C3-4E4E-92F5A5C92824}"/>
              </a:ext>
            </a:extLst>
          </p:cNvPr>
          <p:cNvSpPr txBox="1"/>
          <p:nvPr/>
        </p:nvSpPr>
        <p:spPr>
          <a:xfrm>
            <a:off x="511278" y="481781"/>
            <a:ext cx="57308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화면 구성 </a:t>
            </a:r>
            <a:r>
              <a:rPr lang="en-US" altLang="ko-KR" sz="3600" b="1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- HTML,</a:t>
            </a:r>
            <a:r>
              <a:rPr lang="ko-KR" altLang="en-US" sz="3600" b="1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 </a:t>
            </a:r>
            <a:r>
              <a:rPr lang="en-US" altLang="ko-KR" sz="3600" b="1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CSS, JS</a:t>
            </a:r>
            <a:endParaRPr lang="ko-KR" altLang="en-US" sz="3600" b="1" dirty="0"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45D34C-E410-523E-8A43-255B8F88E9B5}"/>
              </a:ext>
            </a:extLst>
          </p:cNvPr>
          <p:cNvSpPr txBox="1"/>
          <p:nvPr/>
        </p:nvSpPr>
        <p:spPr>
          <a:xfrm>
            <a:off x="511277" y="1203070"/>
            <a:ext cx="74729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HTML, CSS, JavaScript</a:t>
            </a:r>
            <a:r>
              <a:rPr lang="ko-KR" altLang="en-US" dirty="0"/>
              <a:t>는 모든 브라우저가 공통으로 이해하는 </a:t>
            </a:r>
            <a:r>
              <a:rPr lang="ko-KR" altLang="en-US" b="1" dirty="0"/>
              <a:t>웹 표준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1266FC-6EC3-F98C-F459-245DDA4EA7EB}"/>
              </a:ext>
            </a:extLst>
          </p:cNvPr>
          <p:cNvSpPr txBox="1"/>
          <p:nvPr/>
        </p:nvSpPr>
        <p:spPr>
          <a:xfrm>
            <a:off x="8144256" y="2690336"/>
            <a:ext cx="238963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문서 → </a:t>
            </a:r>
            <a:r>
              <a:rPr lang="en-US" altLang="ko-KR" dirty="0"/>
              <a:t>HTML</a:t>
            </a:r>
          </a:p>
          <a:p>
            <a:br>
              <a:rPr lang="en-US" altLang="ko-KR" dirty="0"/>
            </a:br>
            <a:r>
              <a:rPr lang="ko-KR" altLang="en-US" dirty="0"/>
              <a:t>디자인 필요 → </a:t>
            </a:r>
            <a:r>
              <a:rPr lang="en-US" altLang="ko-KR" dirty="0"/>
              <a:t>CSS</a:t>
            </a:r>
          </a:p>
          <a:p>
            <a:br>
              <a:rPr lang="en-US" altLang="ko-KR" dirty="0"/>
            </a:br>
            <a:r>
              <a:rPr lang="ko-KR" altLang="en-US" dirty="0"/>
              <a:t>동작 필요 → </a:t>
            </a:r>
            <a:r>
              <a:rPr lang="en-US" altLang="ko-KR" dirty="0"/>
              <a:t>JS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FEA8AC1-8230-7044-CBDF-E65F4E28A538}"/>
              </a:ext>
            </a:extLst>
          </p:cNvPr>
          <p:cNvSpPr txBox="1"/>
          <p:nvPr/>
        </p:nvSpPr>
        <p:spPr>
          <a:xfrm>
            <a:off x="511277" y="5970796"/>
            <a:ext cx="74729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웹은 하나의 언어가 아니라</a:t>
            </a:r>
            <a:r>
              <a:rPr lang="en-US" altLang="ko-KR" dirty="0"/>
              <a:t>, </a:t>
            </a:r>
            <a:r>
              <a:rPr lang="ko-KR" altLang="en-US" dirty="0"/>
              <a:t>역할이 나뉜 세 가지 기술로 만들어진다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8DBE79E7-C852-A409-A62F-F0828B7C6D6A}"/>
              </a:ext>
            </a:extLst>
          </p:cNvPr>
          <p:cNvGrpSpPr/>
          <p:nvPr/>
        </p:nvGrpSpPr>
        <p:grpSpPr>
          <a:xfrm>
            <a:off x="390143" y="1759586"/>
            <a:ext cx="8478789" cy="3929829"/>
            <a:chOff x="390144" y="1759586"/>
            <a:chExt cx="7875205" cy="3650074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1037D831-014C-0CFA-4067-06C831A22B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0144" y="1759586"/>
              <a:ext cx="6307515" cy="3547977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D5F5A56-517E-EF55-9A73-12CF70068854}"/>
                </a:ext>
              </a:extLst>
            </p:cNvPr>
            <p:cNvSpPr txBox="1"/>
            <p:nvPr/>
          </p:nvSpPr>
          <p:spPr>
            <a:xfrm>
              <a:off x="792354" y="5166673"/>
              <a:ext cx="7472995" cy="2429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100" dirty="0"/>
                <a:t>Image Source : https://www.books.weniv.co.kr/essentials-html-css/chapter01/01-3</a:t>
              </a:r>
              <a:endParaRPr lang="ko-KR" alt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48578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00457-E04F-3065-B265-0F23B0E7D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4F1DECF-7B43-3159-0DA8-38A3969F6AAE}"/>
              </a:ext>
            </a:extLst>
          </p:cNvPr>
          <p:cNvSpPr txBox="1"/>
          <p:nvPr/>
        </p:nvSpPr>
        <p:spPr>
          <a:xfrm>
            <a:off x="511278" y="481781"/>
            <a:ext cx="88296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화면 구성 </a:t>
            </a:r>
            <a:r>
              <a:rPr lang="en-US" altLang="ko-KR" sz="3600" b="1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- </a:t>
            </a:r>
            <a:r>
              <a:rPr lang="ko-KR" altLang="en-US" sz="3600" b="1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브라우저가 화면을 그리는 방법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ECC6818-CB38-9D84-B4EB-FC68EC8706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74" t="19488" r="1811" b="10183"/>
          <a:stretch>
            <a:fillRect/>
          </a:stretch>
        </p:blipFill>
        <p:spPr>
          <a:xfrm>
            <a:off x="744659" y="1766589"/>
            <a:ext cx="9737487" cy="474517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83DB012-E242-1514-667F-6ADB353D7519}"/>
              </a:ext>
            </a:extLst>
          </p:cNvPr>
          <p:cNvSpPr txBox="1"/>
          <p:nvPr/>
        </p:nvSpPr>
        <p:spPr>
          <a:xfrm>
            <a:off x="511277" y="1318822"/>
            <a:ext cx="102648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브라우저</a:t>
            </a:r>
            <a:r>
              <a:rPr lang="ko-KR" altLang="en-US" dirty="0"/>
              <a:t>가 코드를 해석해서 화면을 만든다</a:t>
            </a:r>
            <a:r>
              <a:rPr lang="en-US" altLang="ko-KR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030017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3D6E6-E2AA-9B3E-B31C-FC520169E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F37F600-FE9D-9206-A142-5E8B17AD46F4}"/>
              </a:ext>
            </a:extLst>
          </p:cNvPr>
          <p:cNvSpPr txBox="1"/>
          <p:nvPr/>
        </p:nvSpPr>
        <p:spPr>
          <a:xfrm>
            <a:off x="511278" y="481781"/>
            <a:ext cx="67880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DOM – Document Object Model</a:t>
            </a:r>
            <a:endParaRPr lang="ko-KR" altLang="en-US" sz="3600" b="1" dirty="0"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D51BAC-D935-A9A9-B2B4-7F3DAD70E6D0}"/>
              </a:ext>
            </a:extLst>
          </p:cNvPr>
          <p:cNvSpPr txBox="1"/>
          <p:nvPr/>
        </p:nvSpPr>
        <p:spPr>
          <a:xfrm>
            <a:off x="511277" y="1318822"/>
            <a:ext cx="102648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DOM</a:t>
            </a:r>
            <a:r>
              <a:rPr lang="ko-KR" altLang="en-US" dirty="0"/>
              <a:t>은 브라우저가 </a:t>
            </a:r>
            <a:r>
              <a:rPr lang="en-US" altLang="ko-KR" dirty="0"/>
              <a:t>HTML</a:t>
            </a:r>
            <a:r>
              <a:rPr lang="ko-KR" altLang="en-US" dirty="0"/>
              <a:t>을 다루기 위해 만든 </a:t>
            </a:r>
            <a:r>
              <a:rPr lang="ko-KR" altLang="en-US" b="1" dirty="0"/>
              <a:t>표준화된 객체 모델</a:t>
            </a:r>
            <a:endParaRPr lang="en-US" altLang="ko-KR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EF7FD2-E736-BA25-6446-95CF2F3DCE15}"/>
              </a:ext>
            </a:extLst>
          </p:cNvPr>
          <p:cNvSpPr txBox="1"/>
          <p:nvPr/>
        </p:nvSpPr>
        <p:spPr>
          <a:xfrm>
            <a:off x="654310" y="2432006"/>
            <a:ext cx="2345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HTML</a:t>
            </a:r>
            <a:r>
              <a:rPr lang="ko-KR" altLang="en-US" dirty="0"/>
              <a:t>은 그냥 텍스트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3A7B8EF-50F0-21E8-2305-EBD2A46422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10" y="2967664"/>
            <a:ext cx="4346479" cy="254713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49DD95C-5FAB-4455-8827-9FDB62B340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1211" y="1878864"/>
            <a:ext cx="4346479" cy="4433062"/>
          </a:xfrm>
          <a:prstGeom prst="rect">
            <a:avLst/>
          </a:prstGeom>
        </p:spPr>
      </p:pic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DCB386C-697D-E394-4BAE-62F8E35FB202}"/>
              </a:ext>
            </a:extLst>
          </p:cNvPr>
          <p:cNvCxnSpPr>
            <a:cxnSpLocks/>
          </p:cNvCxnSpPr>
          <p:nvPr/>
        </p:nvCxnSpPr>
        <p:spPr>
          <a:xfrm>
            <a:off x="5376672" y="4095395"/>
            <a:ext cx="1475232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63105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2FE75-E5A1-2E5D-D95E-DC1BCD69E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C33C65CC-E825-0BBA-6353-FE57DBF8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52" y="268224"/>
            <a:ext cx="6814570" cy="63154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BCB1181-1999-D8C6-E6D1-08DBF4A55EE4}"/>
              </a:ext>
            </a:extLst>
          </p:cNvPr>
          <p:cNvSpPr txBox="1"/>
          <p:nvPr/>
        </p:nvSpPr>
        <p:spPr>
          <a:xfrm>
            <a:off x="7400544" y="731443"/>
            <a:ext cx="37673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Element Node</a:t>
            </a:r>
          </a:p>
          <a:p>
            <a:pPr>
              <a:buNone/>
            </a:pPr>
            <a:r>
              <a:rPr lang="ko-KR" altLang="en-US" dirty="0"/>
              <a:t>👉 </a:t>
            </a:r>
            <a:r>
              <a:rPr lang="en-US" altLang="ko-KR" dirty="0">
                <a:latin typeface="Courier New" panose="02070309020205020404" pitchFamily="49" charset="0"/>
              </a:rPr>
              <a:t>&lt;body&gt;</a:t>
            </a:r>
            <a:r>
              <a:rPr lang="en-US" altLang="ko-KR" dirty="0"/>
              <a:t>, </a:t>
            </a:r>
            <a:r>
              <a:rPr lang="en-US" altLang="ko-KR" dirty="0">
                <a:latin typeface="Courier New" panose="02070309020205020404" pitchFamily="49" charset="0"/>
              </a:rPr>
              <a:t>&lt;p&gt;</a:t>
            </a:r>
            <a:r>
              <a:rPr lang="en-US" altLang="ko-KR" dirty="0"/>
              <a:t>, </a:t>
            </a:r>
            <a:r>
              <a:rPr lang="en-US" altLang="ko-KR" dirty="0">
                <a:latin typeface="Courier New" panose="02070309020205020404" pitchFamily="49" charset="0"/>
              </a:rPr>
              <a:t>&lt;h1&gt;</a:t>
            </a:r>
            <a:r>
              <a:rPr lang="en-US" altLang="ko-KR" dirty="0"/>
              <a:t> </a:t>
            </a:r>
            <a:r>
              <a:rPr lang="ko-KR" altLang="en-US" dirty="0"/>
              <a:t>같은 태그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67BA33-18C0-B909-A7AC-955A9C18D577}"/>
              </a:ext>
            </a:extLst>
          </p:cNvPr>
          <p:cNvSpPr txBox="1"/>
          <p:nvPr/>
        </p:nvSpPr>
        <p:spPr>
          <a:xfrm>
            <a:off x="7400544" y="2072563"/>
            <a:ext cx="44622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Text Node</a:t>
            </a:r>
          </a:p>
          <a:p>
            <a:pPr>
              <a:buNone/>
            </a:pPr>
            <a:r>
              <a:rPr lang="ko-KR" altLang="en-US" dirty="0"/>
              <a:t>👉 </a:t>
            </a:r>
            <a:r>
              <a:rPr lang="en-US" altLang="ko-KR" dirty="0">
                <a:latin typeface="Courier New" panose="02070309020205020404" pitchFamily="49" charset="0"/>
              </a:rPr>
              <a:t>"Hello World"</a:t>
            </a:r>
            <a:r>
              <a:rPr lang="en-US" altLang="ko-KR" dirty="0"/>
              <a:t> </a:t>
            </a:r>
            <a:r>
              <a:rPr lang="ko-KR" altLang="en-US" dirty="0"/>
              <a:t>같은 실제 텍스트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FB0383-9E5A-647A-620E-E56083447D37}"/>
              </a:ext>
            </a:extLst>
          </p:cNvPr>
          <p:cNvSpPr txBox="1"/>
          <p:nvPr/>
        </p:nvSpPr>
        <p:spPr>
          <a:xfrm>
            <a:off x="7400544" y="341368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Attribute (</a:t>
            </a:r>
            <a:r>
              <a:rPr lang="ko-KR" altLang="en-US" b="1" dirty="0"/>
              <a:t>속성</a:t>
            </a:r>
            <a:r>
              <a:rPr lang="en-US" altLang="ko-KR" b="1" dirty="0"/>
              <a:t>)</a:t>
            </a:r>
          </a:p>
          <a:p>
            <a:pPr>
              <a:buNone/>
            </a:pPr>
            <a:r>
              <a:rPr lang="ko-KR" altLang="en-US" dirty="0"/>
              <a:t>👉 </a:t>
            </a:r>
            <a:r>
              <a:rPr lang="en-US" altLang="ko-KR" dirty="0">
                <a:latin typeface="Courier New" panose="02070309020205020404" pitchFamily="49" charset="0"/>
              </a:rPr>
              <a:t>class="..."</a:t>
            </a:r>
            <a:r>
              <a:rPr lang="en-US" altLang="ko-KR" dirty="0"/>
              <a:t>, </a:t>
            </a:r>
            <a:r>
              <a:rPr lang="en-US" altLang="ko-KR" dirty="0" err="1">
                <a:latin typeface="Courier New" panose="02070309020205020404" pitchFamily="49" charset="0"/>
              </a:rPr>
              <a:t>href</a:t>
            </a:r>
            <a:r>
              <a:rPr lang="en-US" altLang="ko-KR" dirty="0">
                <a:latin typeface="Courier New" panose="02070309020205020404" pitchFamily="49" charset="0"/>
              </a:rPr>
              <a:t>="..."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DFFBEF-7D5C-4E55-1917-EB3C6301E9F8}"/>
              </a:ext>
            </a:extLst>
          </p:cNvPr>
          <p:cNvSpPr txBox="1"/>
          <p:nvPr/>
        </p:nvSpPr>
        <p:spPr>
          <a:xfrm>
            <a:off x="7400544" y="5083987"/>
            <a:ext cx="44622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DOM</a:t>
            </a:r>
            <a:r>
              <a:rPr lang="ko-KR" altLang="en-US" b="1" dirty="0"/>
              <a:t>은 노드로 이루어진 트리 구조</a:t>
            </a:r>
            <a:r>
              <a:rPr lang="en-US" altLang="ko-KR" b="1" dirty="0"/>
              <a:t>,</a:t>
            </a:r>
            <a:br>
              <a:rPr lang="en-US" altLang="ko-KR" b="1" dirty="0"/>
            </a:br>
            <a:r>
              <a:rPr lang="en-US" altLang="ko-KR" b="1" dirty="0"/>
              <a:t>HTML</a:t>
            </a:r>
            <a:r>
              <a:rPr lang="ko-KR" altLang="en-US" b="1" dirty="0"/>
              <a:t>의 모든 요소가 노드로 표현된다</a:t>
            </a:r>
            <a:r>
              <a:rPr lang="en-US" altLang="ko-KR" b="1" dirty="0"/>
              <a:t>!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86651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47531-BFAC-A318-115D-8F669B435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9BBC9B-84FC-392C-D883-62502DB634A3}"/>
              </a:ext>
            </a:extLst>
          </p:cNvPr>
          <p:cNvSpPr txBox="1"/>
          <p:nvPr/>
        </p:nvSpPr>
        <p:spPr>
          <a:xfrm>
            <a:off x="511278" y="481781"/>
            <a:ext cx="59592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CSSOM – CSS Object Model</a:t>
            </a:r>
            <a:endParaRPr lang="ko-KR" altLang="en-US" sz="3600" b="1" dirty="0"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11D026-2BE1-426D-9DE1-DA671BEF3E69}"/>
              </a:ext>
            </a:extLst>
          </p:cNvPr>
          <p:cNvSpPr txBox="1"/>
          <p:nvPr/>
        </p:nvSpPr>
        <p:spPr>
          <a:xfrm>
            <a:off x="511277" y="1318822"/>
            <a:ext cx="102648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CSSOM</a:t>
            </a:r>
            <a:r>
              <a:rPr lang="ko-KR" altLang="en-US" dirty="0"/>
              <a:t>은 각 요소에 어떤 스타일이 적용되는지를 담고 있는 구조</a:t>
            </a:r>
            <a:endParaRPr lang="en-US" altLang="ko-KR" b="1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8AFA977B-FB69-101D-6F01-2ED3513C22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277" y="1997198"/>
            <a:ext cx="7048119" cy="3974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B59435-EC1F-CEC5-2C6D-D4E7686DCA6B}"/>
              </a:ext>
            </a:extLst>
          </p:cNvPr>
          <p:cNvSpPr txBox="1"/>
          <p:nvPr/>
        </p:nvSpPr>
        <p:spPr>
          <a:xfrm>
            <a:off x="6470538" y="2227126"/>
            <a:ext cx="56567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 err="1"/>
              <a:t>Casacading</a:t>
            </a:r>
            <a:r>
              <a:rPr lang="en-US" altLang="ko-KR" b="1" dirty="0"/>
              <a:t> Style Sheet</a:t>
            </a:r>
          </a:p>
          <a:p>
            <a:endParaRPr lang="en-US" altLang="ko-KR" b="1" dirty="0"/>
          </a:p>
          <a:p>
            <a:r>
              <a:rPr lang="en-US" altLang="ko-KR" dirty="0" err="1"/>
              <a:t>Casacade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폭포처럼 위에서 아래로 떨어지다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530374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102D8-3DBB-7BA5-BFA1-E60C24662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42BE37B-F4D4-4D6D-3FEC-EAAE62D93306}"/>
              </a:ext>
            </a:extLst>
          </p:cNvPr>
          <p:cNvSpPr txBox="1"/>
          <p:nvPr/>
        </p:nvSpPr>
        <p:spPr>
          <a:xfrm>
            <a:off x="511278" y="481781"/>
            <a:ext cx="28118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Render Tree</a:t>
            </a:r>
            <a:endParaRPr lang="ko-KR" altLang="en-US" sz="3600" b="1" dirty="0"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5394CE-2D79-AF66-7E5A-C6A33A24D6B1}"/>
              </a:ext>
            </a:extLst>
          </p:cNvPr>
          <p:cNvSpPr txBox="1"/>
          <p:nvPr/>
        </p:nvSpPr>
        <p:spPr>
          <a:xfrm>
            <a:off x="511277" y="1318822"/>
            <a:ext cx="102648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Render Tree = DOM + CSSOM</a:t>
            </a:r>
            <a:r>
              <a:rPr lang="ko-KR" altLang="en-US" dirty="0"/>
              <a:t>이 합쳐진 결과</a:t>
            </a:r>
            <a:r>
              <a:rPr lang="en-US" altLang="ko-KR" dirty="0"/>
              <a:t>, </a:t>
            </a:r>
            <a:r>
              <a:rPr lang="ko-KR" altLang="en-US" b="1" dirty="0"/>
              <a:t>실제로 화면에 그려질 것들만 모아놓은 구조</a:t>
            </a:r>
            <a:endParaRPr lang="en-US" altLang="ko-KR" b="1" dirty="0"/>
          </a:p>
        </p:txBody>
      </p:sp>
      <p:pic>
        <p:nvPicPr>
          <p:cNvPr id="6146" name="Picture 2" descr="렌더링 트리 생성, 레이아웃 및 페인트 | Articles | web.dev">
            <a:extLst>
              <a:ext uri="{FF2B5EF4-FFF2-40B4-BE49-F238E27FC236}">
                <a16:creationId xmlns:a16="http://schemas.microsoft.com/office/drawing/2014/main" id="{EA00CBDF-6A37-5A43-988D-31899BB042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0230" y="2036064"/>
            <a:ext cx="8606970" cy="40190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693A13-D1F5-2284-A487-DA775ED7065E}"/>
              </a:ext>
            </a:extLst>
          </p:cNvPr>
          <p:cNvSpPr txBox="1"/>
          <p:nvPr/>
        </p:nvSpPr>
        <p:spPr>
          <a:xfrm>
            <a:off x="292608" y="6298788"/>
            <a:ext cx="110581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※ </a:t>
            </a:r>
            <a:r>
              <a:rPr lang="en-US" altLang="ko-KR" sz="1600" b="1" dirty="0"/>
              <a:t>display: none</a:t>
            </a:r>
            <a:r>
              <a:rPr lang="ko-KR" altLang="en-US" sz="1600" dirty="0"/>
              <a:t>이 적용된 요소는 </a:t>
            </a:r>
            <a:r>
              <a:rPr lang="en-US" altLang="ko-KR" sz="1600" dirty="0"/>
              <a:t>DOM</a:t>
            </a:r>
            <a:r>
              <a:rPr lang="ko-KR" altLang="en-US" sz="1600" dirty="0"/>
              <a:t>에는 존재하지만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화면에 보이지 않기 때문에 </a:t>
            </a:r>
            <a:r>
              <a:rPr lang="en-US" altLang="ko-KR" sz="1600" b="1" dirty="0"/>
              <a:t>Render Tree </a:t>
            </a:r>
            <a:r>
              <a:rPr lang="ko-KR" altLang="en-US" sz="1600" b="1" dirty="0"/>
              <a:t>포함 </a:t>
            </a:r>
            <a:r>
              <a:rPr lang="en-US" altLang="ko-KR" sz="1600" b="1" dirty="0"/>
              <a:t>X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4228202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85219-6F27-450F-C688-F196A8907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7AB0DFE-4919-0385-06B3-5454DC99B36D}"/>
              </a:ext>
            </a:extLst>
          </p:cNvPr>
          <p:cNvSpPr txBox="1"/>
          <p:nvPr/>
        </p:nvSpPr>
        <p:spPr>
          <a:xfrm>
            <a:off x="511278" y="481781"/>
            <a:ext cx="44855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브라우저 렌더링 과정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D992FD-C06C-EF38-9E10-C5D9A5E9975B}"/>
              </a:ext>
            </a:extLst>
          </p:cNvPr>
          <p:cNvSpPr txBox="1"/>
          <p:nvPr/>
        </p:nvSpPr>
        <p:spPr>
          <a:xfrm>
            <a:off x="511277" y="1318822"/>
            <a:ext cx="102648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이 모든 과정은 브라우저가 자동으로 처리한다</a:t>
            </a:r>
            <a:endParaRPr lang="en-US" altLang="ko-KR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99B915-3712-2F7F-5161-35B60323F8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74" t="19488" r="1811" b="10183"/>
          <a:stretch>
            <a:fillRect/>
          </a:stretch>
        </p:blipFill>
        <p:spPr>
          <a:xfrm>
            <a:off x="622739" y="2174746"/>
            <a:ext cx="6292411" cy="30663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143B6BD-172C-73A6-356E-ABB8460F569A}"/>
              </a:ext>
            </a:extLst>
          </p:cNvPr>
          <p:cNvSpPr txBox="1"/>
          <p:nvPr/>
        </p:nvSpPr>
        <p:spPr>
          <a:xfrm>
            <a:off x="368628" y="5803338"/>
            <a:ext cx="68006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문제</a:t>
            </a:r>
            <a:r>
              <a:rPr lang="en-US" altLang="ko-KR" b="1" dirty="0"/>
              <a:t>: DOM </a:t>
            </a:r>
            <a:r>
              <a:rPr lang="ko-KR" altLang="en-US" b="1" dirty="0"/>
              <a:t>변경 시 렌더링 과정이 반복되어 성능 비용이 크다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FB21B5D-3D04-BEDD-C3EA-611B7196FE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42" t="27555" r="10616" b="21582"/>
          <a:stretch>
            <a:fillRect/>
          </a:stretch>
        </p:blipFill>
        <p:spPr bwMode="auto">
          <a:xfrm>
            <a:off x="8591549" y="2898774"/>
            <a:ext cx="2761221" cy="1060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EE828A2-9BF9-F89D-45FB-47DFC7E68A2E}"/>
              </a:ext>
            </a:extLst>
          </p:cNvPr>
          <p:cNvSpPr txBox="1"/>
          <p:nvPr/>
        </p:nvSpPr>
        <p:spPr>
          <a:xfrm>
            <a:off x="8635159" y="4025685"/>
            <a:ext cx="26739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-&gt; </a:t>
            </a:r>
            <a:r>
              <a:rPr lang="ko-KR" altLang="en-US" b="1" dirty="0" err="1"/>
              <a:t>리액트를</a:t>
            </a:r>
            <a:r>
              <a:rPr lang="ko-KR" altLang="en-US" b="1" dirty="0"/>
              <a:t> 쓰는 이유</a:t>
            </a:r>
            <a:r>
              <a:rPr lang="en-US" altLang="ko-KR" b="1" dirty="0"/>
              <a:t>!!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0153738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C4589-FDCA-4A3F-7444-E1275310B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27653E8-D486-282B-8775-8D54372C2662}"/>
              </a:ext>
            </a:extLst>
          </p:cNvPr>
          <p:cNvSpPr txBox="1"/>
          <p:nvPr/>
        </p:nvSpPr>
        <p:spPr>
          <a:xfrm>
            <a:off x="511278" y="481781"/>
            <a:ext cx="14122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React</a:t>
            </a:r>
            <a:endParaRPr lang="ko-KR" altLang="en-US" sz="3600" b="1" dirty="0"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9B994E-530E-E697-E484-E68D5A02CB1E}"/>
              </a:ext>
            </a:extLst>
          </p:cNvPr>
          <p:cNvSpPr txBox="1"/>
          <p:nvPr/>
        </p:nvSpPr>
        <p:spPr>
          <a:xfrm>
            <a:off x="511277" y="1318822"/>
            <a:ext cx="102648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Virtual DOM</a:t>
            </a:r>
            <a:r>
              <a:rPr lang="ko-KR" altLang="en-US" dirty="0"/>
              <a:t>을 활용해 </a:t>
            </a:r>
            <a:r>
              <a:rPr lang="ko-KR" altLang="en-US" b="1" dirty="0"/>
              <a:t>최소한만 업데이트 </a:t>
            </a:r>
            <a:r>
              <a:rPr lang="ko-KR" altLang="en-US" dirty="0"/>
              <a:t>한다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endParaRPr lang="en-US" altLang="ko-KR" dirty="0"/>
          </a:p>
        </p:txBody>
      </p:sp>
      <p:pic>
        <p:nvPicPr>
          <p:cNvPr id="2062" name="Picture 14">
            <a:extLst>
              <a:ext uri="{FF2B5EF4-FFF2-40B4-BE49-F238E27FC236}">
                <a16:creationId xmlns:a16="http://schemas.microsoft.com/office/drawing/2014/main" id="{A4C7D1A0-1B45-772B-F075-52F1F4BC34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760" y="2009213"/>
            <a:ext cx="4701540" cy="40550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6776EA6-CF3E-58C4-99A5-9967B8A8B319}"/>
              </a:ext>
            </a:extLst>
          </p:cNvPr>
          <p:cNvSpPr txBox="1"/>
          <p:nvPr/>
        </p:nvSpPr>
        <p:spPr>
          <a:xfrm>
            <a:off x="6096000" y="2219236"/>
            <a:ext cx="6096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React</a:t>
            </a:r>
            <a:r>
              <a:rPr lang="ko-KR" altLang="en-US" sz="1600" dirty="0"/>
              <a:t>는 </a:t>
            </a:r>
            <a:r>
              <a:rPr lang="en-US" altLang="ko-KR" sz="1600" dirty="0"/>
              <a:t>JavaScript </a:t>
            </a:r>
            <a:r>
              <a:rPr lang="ko-KR" altLang="en-US" sz="1600" dirty="0"/>
              <a:t>라이브러리</a:t>
            </a:r>
            <a:endParaRPr lang="en-US" altLang="ko-KR" sz="1600" dirty="0"/>
          </a:p>
          <a:p>
            <a:endParaRPr lang="en-US" altLang="ko-KR" sz="1600" dirty="0"/>
          </a:p>
          <a:p>
            <a:br>
              <a:rPr lang="en-US" altLang="ko-KR" sz="1600" dirty="0"/>
            </a:br>
            <a:r>
              <a:rPr lang="en-US" altLang="ko-KR" sz="1600" dirty="0"/>
              <a:t>JSX</a:t>
            </a:r>
            <a:r>
              <a:rPr lang="ko-KR" altLang="en-US" sz="1600" dirty="0"/>
              <a:t>라는 문법을 사용해서 </a:t>
            </a:r>
            <a:r>
              <a:rPr lang="en-US" altLang="ko-KR" sz="1600" dirty="0"/>
              <a:t>HTML</a:t>
            </a:r>
            <a:r>
              <a:rPr lang="ko-KR" altLang="en-US" sz="1600" dirty="0"/>
              <a:t>처럼 </a:t>
            </a:r>
            <a:r>
              <a:rPr lang="en-US" altLang="ko-KR" sz="1600" dirty="0"/>
              <a:t>UI</a:t>
            </a:r>
            <a:r>
              <a:rPr lang="ko-KR" altLang="en-US" sz="1600" dirty="0"/>
              <a:t>를 작성할 수 있다</a:t>
            </a:r>
          </a:p>
        </p:txBody>
      </p:sp>
      <p:sp>
        <p:nvSpPr>
          <p:cNvPr id="19" name="AutoShape 20" descr="React] JSX는 무엇이고? and JSX 작성법">
            <a:extLst>
              <a:ext uri="{FF2B5EF4-FFF2-40B4-BE49-F238E27FC236}">
                <a16:creationId xmlns:a16="http://schemas.microsoft.com/office/drawing/2014/main" id="{99F41089-4B7F-6ADC-724B-4BEA0EB2ECA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070" name="Picture 22">
            <a:extLst>
              <a:ext uri="{FF2B5EF4-FFF2-40B4-BE49-F238E27FC236}">
                <a16:creationId xmlns:a16="http://schemas.microsoft.com/office/drawing/2014/main" id="{018C6705-A861-2E84-68FA-92FE21C9B6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3155" y="3429000"/>
            <a:ext cx="3150794" cy="2214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46027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A64F0-3B50-0F57-CE5A-3C160F169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00CA461-CCBF-F5EE-09F5-8331916EAC44}"/>
              </a:ext>
            </a:extLst>
          </p:cNvPr>
          <p:cNvSpPr txBox="1"/>
          <p:nvPr/>
        </p:nvSpPr>
        <p:spPr>
          <a:xfrm>
            <a:off x="511278" y="481781"/>
            <a:ext cx="5940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Stack Overflow </a:t>
            </a:r>
            <a:r>
              <a:rPr lang="ko-KR" altLang="en-US" sz="3600" b="1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통계 </a:t>
            </a:r>
            <a:r>
              <a:rPr lang="en-US" altLang="ko-KR" sz="3600" b="1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- 2025</a:t>
            </a:r>
            <a:endParaRPr lang="ko-KR" altLang="en-US" sz="3600" b="1" dirty="0"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D71B56A2-B7C9-5EC4-DD7C-A514D44ACD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915" y="1684020"/>
            <a:ext cx="3455917" cy="45796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CBE32D00-0420-8409-5088-5B8796A425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9713" y="1684020"/>
            <a:ext cx="7068589" cy="3887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0534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A0CA0-E1C2-CD21-250C-AB58EE207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8" name="Picture 12">
            <a:extLst>
              <a:ext uri="{FF2B5EF4-FFF2-40B4-BE49-F238E27FC236}">
                <a16:creationId xmlns:a16="http://schemas.microsoft.com/office/drawing/2014/main" id="{F31DA524-FE48-51C9-70A4-19DC12F96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" y="0"/>
            <a:ext cx="10287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67508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3EC7A-3959-BA25-DFD9-D799F8978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DD6EAB-2E18-E019-FC63-CA70CDAD9EA7}"/>
              </a:ext>
            </a:extLst>
          </p:cNvPr>
          <p:cNvSpPr txBox="1"/>
          <p:nvPr/>
        </p:nvSpPr>
        <p:spPr>
          <a:xfrm>
            <a:off x="511278" y="481781"/>
            <a:ext cx="24208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감사합니다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C42CA7-359D-B266-E43E-1F5DB0DAD3FA}"/>
              </a:ext>
            </a:extLst>
          </p:cNvPr>
          <p:cNvSpPr txBox="1"/>
          <p:nvPr/>
        </p:nvSpPr>
        <p:spPr>
          <a:xfrm>
            <a:off x="511278" y="2410658"/>
            <a:ext cx="680392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조금 더 알아보고 싶다면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endParaRPr lang="en-US" altLang="ko-KR" dirty="0"/>
          </a:p>
          <a:p>
            <a:endParaRPr lang="en-US" altLang="ko-KR" dirty="0">
              <a:hlinkClick r:id="rId3" tooltip="DOM &amp; CSSOM - 프론트엔드 개발자 필수지식"/>
            </a:endParaRPr>
          </a:p>
          <a:p>
            <a:endParaRPr lang="en-US" altLang="ko-KR" dirty="0">
              <a:hlinkClick r:id="rId3" tooltip="DOM &amp; CSSOM - 프론트엔드 개발자 필수지식"/>
            </a:endParaRPr>
          </a:p>
          <a:p>
            <a:r>
              <a:rPr lang="en-US" altLang="ko-KR" dirty="0">
                <a:hlinkClick r:id="rId3" tooltip="DOM &amp; CSSOM - 프론트엔드 개발자 필수지식"/>
              </a:rPr>
              <a:t>DOM &amp; CSSOM - </a:t>
            </a:r>
            <a:r>
              <a:rPr lang="ko-KR" altLang="en-US" dirty="0" err="1">
                <a:hlinkClick r:id="rId3" tooltip="DOM &amp; CSSOM - 프론트엔드 개발자 필수지식"/>
              </a:rPr>
              <a:t>프론트엔드</a:t>
            </a:r>
            <a:r>
              <a:rPr lang="ko-KR" altLang="en-US" dirty="0">
                <a:hlinkClick r:id="rId3" tooltip="DOM &amp; CSSOM - 프론트엔드 개발자 필수지식"/>
              </a:rPr>
              <a:t> 개발자 필수지식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>
                <a:hlinkClick r:id="rId4" tooltip="DOM은 뭐고 가상 DOM은 뭔가요? (+ Svelte와 React의 차이)"/>
              </a:rPr>
              <a:t>DOM</a:t>
            </a:r>
            <a:r>
              <a:rPr lang="ko-KR" altLang="en-US" dirty="0">
                <a:hlinkClick r:id="rId4" tooltip="DOM은 뭐고 가상 DOM은 뭔가요? (+ Svelte와 React의 차이)"/>
              </a:rPr>
              <a:t>은 </a:t>
            </a:r>
            <a:r>
              <a:rPr lang="ko-KR" altLang="en-US" dirty="0" err="1">
                <a:hlinkClick r:id="rId4" tooltip="DOM은 뭐고 가상 DOM은 뭔가요? (+ Svelte와 React의 차이)"/>
              </a:rPr>
              <a:t>뭐고</a:t>
            </a:r>
            <a:r>
              <a:rPr lang="ko-KR" altLang="en-US" dirty="0">
                <a:hlinkClick r:id="rId4" tooltip="DOM은 뭐고 가상 DOM은 뭔가요? (+ Svelte와 React의 차이)"/>
              </a:rPr>
              <a:t> 가상 </a:t>
            </a:r>
            <a:r>
              <a:rPr lang="en-US" altLang="ko-KR" dirty="0">
                <a:hlinkClick r:id="rId4" tooltip="DOM은 뭐고 가상 DOM은 뭔가요? (+ Svelte와 React의 차이)"/>
              </a:rPr>
              <a:t>DOM</a:t>
            </a:r>
            <a:r>
              <a:rPr lang="ko-KR" altLang="en-US" dirty="0">
                <a:hlinkClick r:id="rId4" tooltip="DOM은 뭐고 가상 DOM은 뭔가요? (+ Svelte와 React의 차이)"/>
              </a:rPr>
              <a:t>은 </a:t>
            </a:r>
            <a:r>
              <a:rPr lang="ko-KR" altLang="en-US" dirty="0" err="1">
                <a:hlinkClick r:id="rId4" tooltip="DOM은 뭐고 가상 DOM은 뭔가요? (+ Svelte와 React의 차이)"/>
              </a:rPr>
              <a:t>뭔가요</a:t>
            </a:r>
            <a:r>
              <a:rPr lang="en-US" altLang="ko-KR" dirty="0">
                <a:hlinkClick r:id="rId4" tooltip="DOM은 뭐고 가상 DOM은 뭔가요? (+ Svelte와 React의 차이)"/>
              </a:rPr>
              <a:t>? (+ Svelte</a:t>
            </a:r>
            <a:r>
              <a:rPr lang="ko-KR" altLang="en-US" dirty="0">
                <a:hlinkClick r:id="rId4" tooltip="DOM은 뭐고 가상 DOM은 뭔가요? (+ Svelte와 React의 차이)"/>
              </a:rPr>
              <a:t>와 </a:t>
            </a:r>
            <a:r>
              <a:rPr lang="en-US" altLang="ko-KR" dirty="0">
                <a:hlinkClick r:id="rId4" tooltip="DOM은 뭐고 가상 DOM은 뭔가요? (+ Svelte와 React의 차이)"/>
              </a:rPr>
              <a:t>React</a:t>
            </a:r>
            <a:r>
              <a:rPr lang="ko-KR" altLang="en-US" dirty="0">
                <a:hlinkClick r:id="rId4" tooltip="DOM은 뭐고 가상 DOM은 뭔가요? (+ Svelte와 React의 차이)"/>
              </a:rPr>
              <a:t>의 차이</a:t>
            </a:r>
            <a:r>
              <a:rPr lang="en-US" altLang="ko-KR" dirty="0">
                <a:hlinkClick r:id="rId4" tooltip="DOM은 뭐고 가상 DOM은 뭔가요? (+ Svelte와 React의 차이)"/>
              </a:rPr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86906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487</TotalTime>
  <Words>1497</Words>
  <Application>Microsoft Office PowerPoint</Application>
  <PresentationFormat>와이드스크린</PresentationFormat>
  <Paragraphs>163</Paragraphs>
  <Slides>13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8" baseType="lpstr">
      <vt:lpstr>맑은 고딕</vt:lpstr>
      <vt:lpstr>함초롬돋움</vt:lpstr>
      <vt:lpstr>Arial</vt:lpstr>
      <vt:lpstr>Courier New</vt:lpstr>
      <vt:lpstr>Office 테마</vt:lpstr>
      <vt:lpstr>프론트엔드 트랙 2주차 학습 발표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이효빈</dc:creator>
  <cp:lastModifiedBy>이효빈</cp:lastModifiedBy>
  <cp:revision>103</cp:revision>
  <dcterms:created xsi:type="dcterms:W3CDTF">2026-04-07T12:31:56Z</dcterms:created>
  <dcterms:modified xsi:type="dcterms:W3CDTF">2026-04-29T06:14:45Z</dcterms:modified>
</cp:coreProperties>
</file>